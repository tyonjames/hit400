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275784" cy="42803064"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275784" cy="42803064"/>
          </a:xfrm>
          <a:prstGeom prst="rect">
            <a:avLst/>
          </a:prstGeom>
          <a:solidFill>
            <a:srgbClr val="F5E5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0275784" cy="228600"/>
          </a:xfrm>
          <a:prstGeom prst="rect">
            <a:avLst/>
          </a:prstGeom>
          <a:solidFill>
            <a:srgbClr val="8B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28600"/>
            <a:ext cx="30275784"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320040"/>
            <a:ext cx="3291840" cy="2743200"/>
          </a:xfrm>
          <a:prstGeom prst="rect">
            <a:avLst/>
          </a:prstGeom>
          <a:solidFill>
            <a:srgbClr val="F0F0F0"/>
          </a:solidFill>
          <a:ln w="6350">
            <a:solidFill>
              <a:srgbClr val="BBA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457200"/>
            <a:ext cx="3108960" cy="2468880"/>
          </a:xfrm>
          <a:prstGeom prst="rect">
            <a:avLst/>
          </a:prstGeom>
          <a:noFill/>
        </p:spPr>
        <p:txBody>
          <a:bodyPr wrap="square" lIns="45720" rIns="45720">
            <a:spAutoFit/>
          </a:bodyPr>
          <a:lstStyle/>
          <a:p>
            <a:pPr algn="ctr"/>
            <a:r>
              <a:rPr sz="2800" b="1" i="0">
                <a:solidFill>
                  <a:srgbClr val="8B0A14"/>
                </a:solidFill>
              </a:rPr>
              <a:t>Harare Institute
of Technology</a:t>
            </a:r>
          </a:p>
        </p:txBody>
      </p:sp>
      <p:sp>
        <p:nvSpPr>
          <p:cNvPr id="7" name="TextBox 6"/>
          <p:cNvSpPr txBox="1"/>
          <p:nvPr/>
        </p:nvSpPr>
        <p:spPr>
          <a:xfrm>
            <a:off x="3840480" y="365760"/>
            <a:ext cx="25978104" cy="1828800"/>
          </a:xfrm>
          <a:prstGeom prst="rect">
            <a:avLst/>
          </a:prstGeom>
          <a:noFill/>
        </p:spPr>
        <p:txBody>
          <a:bodyPr wrap="square" lIns="45720" rIns="45720">
            <a:spAutoFit/>
          </a:bodyPr>
          <a:lstStyle/>
          <a:p>
            <a:pPr algn="ctr"/>
            <a:r>
              <a:rPr sz="6000" b="1" i="0">
                <a:solidFill>
                  <a:srgbClr val="0A0A0A"/>
                </a:solidFill>
              </a:rPr>
              <a:t>BlockLand: A Blockchain-Based Land Registry and Management System for Zimbabwe</a:t>
            </a:r>
          </a:p>
        </p:txBody>
      </p:sp>
      <p:sp>
        <p:nvSpPr>
          <p:cNvPr id="8" name="TextBox 7"/>
          <p:cNvSpPr txBox="1"/>
          <p:nvPr/>
        </p:nvSpPr>
        <p:spPr>
          <a:xfrm>
            <a:off x="3840480" y="2286000"/>
            <a:ext cx="25978104" cy="594360"/>
          </a:xfrm>
          <a:prstGeom prst="rect">
            <a:avLst/>
          </a:prstGeom>
          <a:noFill/>
        </p:spPr>
        <p:txBody>
          <a:bodyPr wrap="square" lIns="45720" rIns="45720">
            <a:spAutoFit/>
          </a:bodyPr>
          <a:lstStyle/>
          <a:p>
            <a:pPr algn="ctr"/>
            <a:r>
              <a:rPr sz="2000" b="0" i="0">
                <a:solidFill>
                  <a:srgbClr val="333333"/>
                </a:solidFill>
              </a:rPr>
              <a:t>1,2 Department of Information Security and Assurance, School of Information Sciences and Technology, Ganges Rd, Box BE 277, Belvedere, Harare, Zimbabwe</a:t>
            </a:r>
          </a:p>
        </p:txBody>
      </p:sp>
      <p:sp>
        <p:nvSpPr>
          <p:cNvPr id="9" name="TextBox 8"/>
          <p:cNvSpPr txBox="1"/>
          <p:nvPr/>
        </p:nvSpPr>
        <p:spPr>
          <a:xfrm>
            <a:off x="3840480" y="2834640"/>
            <a:ext cx="25978104" cy="411480"/>
          </a:xfrm>
          <a:prstGeom prst="rect">
            <a:avLst/>
          </a:prstGeom>
          <a:noFill/>
        </p:spPr>
        <p:txBody>
          <a:bodyPr wrap="square" lIns="45720" rIns="45720">
            <a:spAutoFit/>
          </a:bodyPr>
          <a:lstStyle/>
          <a:p>
            <a:pPr algn="ctr"/>
            <a:r>
              <a:rPr sz="2200" b="1" i="0">
                <a:solidFill>
                  <a:srgbClr val="0A0A0A"/>
                </a:solidFill>
              </a:rPr>
              <a:t>1 Tinotenda James (H220349M),   2 Ms Chavhunduka</a:t>
            </a:r>
          </a:p>
        </p:txBody>
      </p:sp>
      <p:sp>
        <p:nvSpPr>
          <p:cNvPr id="10" name="TextBox 9"/>
          <p:cNvSpPr txBox="1"/>
          <p:nvPr/>
        </p:nvSpPr>
        <p:spPr>
          <a:xfrm>
            <a:off x="3840480" y="3246120"/>
            <a:ext cx="25978104" cy="365760"/>
          </a:xfrm>
          <a:prstGeom prst="rect">
            <a:avLst/>
          </a:prstGeom>
          <a:noFill/>
        </p:spPr>
        <p:txBody>
          <a:bodyPr wrap="square" lIns="45720" rIns="45720">
            <a:spAutoFit/>
          </a:bodyPr>
          <a:lstStyle/>
          <a:p>
            <a:pPr algn="ctr"/>
            <a:r>
              <a:rPr sz="1800" b="0" i="1">
                <a:solidFill>
                  <a:srgbClr val="333333"/>
                </a:solidFill>
              </a:rPr>
              <a:t>1 h220349m@hit.ac.zw,   2 chavhunduka@hit.ac.zw</a:t>
            </a:r>
          </a:p>
        </p:txBody>
      </p:sp>
      <p:sp>
        <p:nvSpPr>
          <p:cNvPr id="11" name="Rectangle 10"/>
          <p:cNvSpPr/>
          <p:nvPr/>
        </p:nvSpPr>
        <p:spPr>
          <a:xfrm>
            <a:off x="0" y="3584448"/>
            <a:ext cx="30275784" cy="73152"/>
          </a:xfrm>
          <a:prstGeom prst="rect">
            <a:avLst/>
          </a:prstGeom>
          <a:solidFill>
            <a:srgbClr val="8B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3840480"/>
            <a:ext cx="7308342" cy="64008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54864"/>
          <a:lstStyle/>
          <a:p>
            <a:pPr algn="ctr"/>
            <a:r>
              <a:rPr sz="2800" b="1">
                <a:solidFill>
                  <a:srgbClr val="FFFFFF"/>
                </a:solidFill>
              </a:rPr>
              <a:t>Abstract</a:t>
            </a:r>
          </a:p>
        </p:txBody>
      </p:sp>
      <p:sp>
        <p:nvSpPr>
          <p:cNvPr id="13" name="Rectangle 12"/>
          <p:cNvSpPr/>
          <p:nvPr/>
        </p:nvSpPr>
        <p:spPr>
          <a:xfrm>
            <a:off x="274320" y="4480560"/>
            <a:ext cx="7308342" cy="8046720"/>
          </a:xfrm>
          <a:prstGeom prst="rect">
            <a:avLst/>
          </a:prstGeom>
          <a:solidFill>
            <a:srgbClr val="F5E5C8"/>
          </a:solidFill>
          <a:ln w="9525">
            <a:solidFill>
              <a:srgbClr val="BBA08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91440"/>
          <a:lstStyle/>
          <a:p>
            <a:pPr algn="just"/>
            <a:r>
              <a:rPr sz="1900">
                <a:solidFill>
                  <a:srgbClr val="0A0A0A"/>
                </a:solidFill>
              </a:rPr>
              <a:t>BlockLand is a dual-ledger land registry system that anchors property ownership on the Stacks blockchain while maintaining a PostgreSQL database for operational metadata. The system eliminates paper-based title deed fraud through cryptographic ownership assertions, enforces a legally-aligned three-step transfer workflow via a Clarity smart contract, and provides a public verification portal accessible to any citizen without registration. JWT RS256 authentication, four-role RBAC (Admin, Registrar, Owner, Buyer), and IPFS document hashing provide defence-in-depth access control. Security testing confirmed resistance to replay attacks, privilege escalation, and double-transfer attempts. The system delivers sub-100 ms API response times at p95 under 50 concurrent users, with blockchain-confirming transfers completing in under 30 seconds on the Stacks testnet.</a:t>
            </a:r>
          </a:p>
        </p:txBody>
      </p:sp>
      <p:sp>
        <p:nvSpPr>
          <p:cNvPr id="14" name="Rectangle 13"/>
          <p:cNvSpPr/>
          <p:nvPr/>
        </p:nvSpPr>
        <p:spPr>
          <a:xfrm>
            <a:off x="274320" y="12618719"/>
            <a:ext cx="7308342" cy="64008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54864"/>
          <a:lstStyle/>
          <a:p>
            <a:pPr algn="ctr"/>
            <a:r>
              <a:rPr sz="2800" b="1">
                <a:solidFill>
                  <a:srgbClr val="FFFFFF"/>
                </a:solidFill>
              </a:rPr>
              <a:t>Introduction</a:t>
            </a:r>
          </a:p>
        </p:txBody>
      </p:sp>
      <p:sp>
        <p:nvSpPr>
          <p:cNvPr id="15" name="Rectangle 14"/>
          <p:cNvSpPr/>
          <p:nvPr/>
        </p:nvSpPr>
        <p:spPr>
          <a:xfrm>
            <a:off x="274320" y="13258799"/>
            <a:ext cx="7308342" cy="7132320"/>
          </a:xfrm>
          <a:prstGeom prst="rect">
            <a:avLst/>
          </a:prstGeom>
          <a:solidFill>
            <a:srgbClr val="F5E5C8"/>
          </a:solidFill>
          <a:ln w="9525">
            <a:solidFill>
              <a:srgbClr val="BBA08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91440"/>
          <a:lstStyle/>
          <a:p>
            <a:pPr algn="just"/>
            <a:r>
              <a:rPr sz="1900">
                <a:solidFill>
                  <a:srgbClr val="0A0A0A"/>
                </a:solidFill>
              </a:rPr>
              <a:t>Zimbabwe's Deeds Registry operates under the Deeds Registries Act [Chapter 20:05], maintaining physical title deeds and manual ledgers that are vulnerable to forgery, loss, and deliberate falsification. No public ownership verification mechanism exists — citizens, banks, and legal practitioners must submit formal inquiries to the Registry to confirm ownership. Land fraud costs Zimbabwean families their most significant asset with little recourse.
Blockchain technology offers immutability, transparent auditability, and programmable multi-party workflows through smart contracts — properties directly applicable to land administration. BlockLand applies these capabilities to Zimbabwe's specific legal and administrative context without requiring a wholesale replacement of existing institutions.</a:t>
            </a:r>
          </a:p>
        </p:txBody>
      </p:sp>
      <p:sp>
        <p:nvSpPr>
          <p:cNvPr id="16" name="Rectangle 15"/>
          <p:cNvSpPr/>
          <p:nvPr/>
        </p:nvSpPr>
        <p:spPr>
          <a:xfrm>
            <a:off x="274320" y="20482560"/>
            <a:ext cx="7308342" cy="64008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54864"/>
          <a:lstStyle/>
          <a:p>
            <a:pPr algn="ctr"/>
            <a:r>
              <a:rPr sz="2800" b="1">
                <a:solidFill>
                  <a:srgbClr val="FFFFFF"/>
                </a:solidFill>
              </a:rPr>
              <a:t>Problem Statement</a:t>
            </a:r>
          </a:p>
        </p:txBody>
      </p:sp>
      <p:sp>
        <p:nvSpPr>
          <p:cNvPr id="17" name="Rectangle 16"/>
          <p:cNvSpPr/>
          <p:nvPr/>
        </p:nvSpPr>
        <p:spPr>
          <a:xfrm>
            <a:off x="274320" y="21122639"/>
            <a:ext cx="7308342" cy="10789920"/>
          </a:xfrm>
          <a:prstGeom prst="rect">
            <a:avLst/>
          </a:prstGeom>
          <a:solidFill>
            <a:srgbClr val="F5E5C8"/>
          </a:solidFill>
          <a:ln w="9525">
            <a:solidFill>
              <a:srgbClr val="BBA08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91440"/>
          <a:lstStyle/>
          <a:p>
            <a:pPr algn="just"/>
            <a:r>
              <a:rPr sz="1900">
                <a:solidFill>
                  <a:srgbClr val="0A0A0A"/>
                </a:solidFill>
              </a:rPr>
              <a:t>Zimbabwe's land administration system relies on paper-based title deeds and a centralised manual ledger, creating five critical vulnerabilities:</a:t>
            </a:r>
          </a:p>
          <a:p>
            <a:pPr algn="just" lvl="1">
              <a:spcBef>
                <a:spcPts val="800"/>
              </a:spcBef>
            </a:pPr>
            <a:r>
              <a:rPr sz="1900">
                <a:solidFill>
                  <a:srgbClr val="0A0A0A"/>
                </a:solidFill>
              </a:rPr>
              <a:t>•  Title deeds can be forged without any cryptographic reference.</a:t>
            </a:r>
          </a:p>
          <a:p>
            <a:pPr algn="just" lvl="1">
              <a:spcBef>
                <a:spcPts val="800"/>
              </a:spcBef>
            </a:pPr>
            <a:r>
              <a:rPr sz="1900">
                <a:solidFill>
                  <a:srgbClr val="0A0A0A"/>
                </a:solidFill>
              </a:rPr>
              <a:t>•  Ownership history is opaque — no tamper-evident audit trail exists.</a:t>
            </a:r>
          </a:p>
          <a:p>
            <a:pPr algn="just" lvl="1">
              <a:spcBef>
                <a:spcPts val="800"/>
              </a:spcBef>
            </a:pPr>
            <a:r>
              <a:rPr sz="1900">
                <a:solidFill>
                  <a:srgbClr val="0A0A0A"/>
                </a:solidFill>
              </a:rPr>
              <a:t>•  The centralised Deeds Registry is a single point of failure whose integrity cannot be independently verified by any external party.</a:t>
            </a:r>
          </a:p>
          <a:p>
            <a:pPr algn="just" lvl="1">
              <a:spcBef>
                <a:spcPts val="800"/>
              </a:spcBef>
            </a:pPr>
            <a:r>
              <a:rPr sz="1900">
                <a:solidFill>
                  <a:srgbClr val="0A0A0A"/>
                </a:solidFill>
              </a:rPr>
              <a:t>•  Property transfers require slow, paper-dependent in-person processes taking days to weeks.</a:t>
            </a:r>
          </a:p>
          <a:p>
            <a:pPr algn="just" lvl="1">
              <a:spcBef>
                <a:spcPts val="800"/>
              </a:spcBef>
            </a:pPr>
            <a:r>
              <a:rPr sz="1900">
                <a:solidFill>
                  <a:srgbClr val="0A0A0A"/>
                </a:solidFill>
              </a:rPr>
              <a:t>•  No public verification mechanism exists — ownership cannot be instantly confirmed by citizens, banks, or legal practitioners.</a:t>
            </a:r>
          </a:p>
        </p:txBody>
      </p:sp>
      <p:sp>
        <p:nvSpPr>
          <p:cNvPr id="18" name="Rectangle 17"/>
          <p:cNvSpPr/>
          <p:nvPr/>
        </p:nvSpPr>
        <p:spPr>
          <a:xfrm>
            <a:off x="274320" y="32004000"/>
            <a:ext cx="7308342" cy="64008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54864"/>
          <a:lstStyle/>
          <a:p>
            <a:pPr algn="ctr"/>
            <a:r>
              <a:rPr sz="2800" b="1">
                <a:solidFill>
                  <a:srgbClr val="FFFFFF"/>
                </a:solidFill>
              </a:rPr>
              <a:t>Objectives</a:t>
            </a:r>
          </a:p>
        </p:txBody>
      </p:sp>
      <p:sp>
        <p:nvSpPr>
          <p:cNvPr id="19" name="Rectangle 18"/>
          <p:cNvSpPr/>
          <p:nvPr/>
        </p:nvSpPr>
        <p:spPr>
          <a:xfrm>
            <a:off x="274320" y="32644080"/>
            <a:ext cx="7308342" cy="8778240"/>
          </a:xfrm>
          <a:prstGeom prst="rect">
            <a:avLst/>
          </a:prstGeom>
          <a:solidFill>
            <a:srgbClr val="F5E5C8"/>
          </a:solidFill>
          <a:ln w="9525">
            <a:solidFill>
              <a:srgbClr val="BBA08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91440"/>
          <a:lstStyle/>
          <a:p>
            <a:pPr algn="l"/>
            <a:r>
              <a:rPr sz="1900" b="1">
                <a:solidFill>
                  <a:srgbClr val="0A0A0A"/>
                </a:solidFill>
              </a:rPr>
              <a:t>This project aims to:</a:t>
            </a:r>
          </a:p>
          <a:p>
            <a:pPr algn="just">
              <a:spcBef>
                <a:spcPts val="1000"/>
              </a:spcBef>
            </a:pPr>
            <a:r>
              <a:rPr sz="1900">
                <a:solidFill>
                  <a:srgbClr val="0A0A0A"/>
                </a:solidFill>
              </a:rPr>
              <a:t>1.  To provide a digital submission, review, and approval workflow for property title registrations — eliminating paper-based processes.</a:t>
            </a:r>
          </a:p>
          <a:p>
            <a:pPr algn="just">
              <a:spcBef>
                <a:spcPts val="1000"/>
              </a:spcBef>
            </a:pPr>
            <a:r>
              <a:rPr sz="1900">
                <a:solidFill>
                  <a:srgbClr val="0A0A0A"/>
                </a:solidFill>
              </a:rPr>
              <a:t>2.  To assign each property a unique on-chain token identifier, making it cryptographically impossible to register the same plot twice under different ownership records.</a:t>
            </a:r>
          </a:p>
          <a:p>
            <a:pPr algn="just">
              <a:spcBef>
                <a:spcPts val="1000"/>
              </a:spcBef>
            </a:pPr>
            <a:r>
              <a:rPr sz="1900">
                <a:solidFill>
                  <a:srgbClr val="0A0A0A"/>
                </a:solidFill>
              </a:rPr>
              <a:t>3.  To expose a public verification portal where any citizen can instantly confirm property ownership by plot number, deed number, or National ID — without requiring a registered account or government inquiry.</a:t>
            </a:r>
          </a:p>
        </p:txBody>
      </p:sp>
      <p:sp>
        <p:nvSpPr>
          <p:cNvPr id="20" name="Rectangle 19"/>
          <p:cNvSpPr/>
          <p:nvPr/>
        </p:nvSpPr>
        <p:spPr>
          <a:xfrm>
            <a:off x="7747254" y="3840480"/>
            <a:ext cx="7308342" cy="6400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54864"/>
          <a:lstStyle/>
          <a:p>
            <a:pPr algn="ctr"/>
            <a:r>
              <a:rPr sz="2800" b="1">
                <a:solidFill>
                  <a:srgbClr val="FFFFFF"/>
                </a:solidFill>
              </a:rPr>
              <a:t>Use Cases</a:t>
            </a:r>
          </a:p>
        </p:txBody>
      </p:sp>
      <p:sp>
        <p:nvSpPr>
          <p:cNvPr id="21" name="Rectangle 20"/>
          <p:cNvSpPr/>
          <p:nvPr/>
        </p:nvSpPr>
        <p:spPr>
          <a:xfrm>
            <a:off x="7747254" y="4480560"/>
            <a:ext cx="7308342" cy="12618720"/>
          </a:xfrm>
          <a:prstGeom prst="rect">
            <a:avLst/>
          </a:prstGeom>
          <a:solidFill>
            <a:srgbClr val="F5E5C8"/>
          </a:solidFill>
          <a:ln w="9525">
            <a:solidFill>
              <a:srgbClr val="BBA08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91440"/>
          <a:lstStyle/>
          <a:p>
            <a:pPr algn="ctr"/>
            <a:r>
              <a:rPr sz="1800" i="1">
                <a:solidFill>
                  <a:srgbClr val="333333"/>
                </a:solidFill>
              </a:rPr>
              <a:t>Key actor-system interactions</a:t>
            </a:r>
          </a:p>
        </p:txBody>
      </p:sp>
      <p:pic>
        <p:nvPicPr>
          <p:cNvPr id="22" name="Picture 21" descr="03_use_case.png"/>
          <p:cNvPicPr>
            <a:picLocks noChangeAspect="1"/>
          </p:cNvPicPr>
          <p:nvPr/>
        </p:nvPicPr>
        <p:blipFill>
          <a:blip r:embed="rId2"/>
          <a:stretch>
            <a:fillRect/>
          </a:stretch>
        </p:blipFill>
        <p:spPr>
          <a:xfrm>
            <a:off x="7838694" y="4937759"/>
            <a:ext cx="7125462" cy="11887200"/>
          </a:xfrm>
          <a:prstGeom prst="rect">
            <a:avLst/>
          </a:prstGeom>
        </p:spPr>
      </p:pic>
      <p:sp>
        <p:nvSpPr>
          <p:cNvPr id="23" name="Rectangle 22"/>
          <p:cNvSpPr/>
          <p:nvPr/>
        </p:nvSpPr>
        <p:spPr>
          <a:xfrm>
            <a:off x="7747254" y="17190720"/>
            <a:ext cx="7308342" cy="6400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54864"/>
          <a:lstStyle/>
          <a:p>
            <a:pPr algn="ctr"/>
            <a:r>
              <a:rPr sz="2800" b="1">
                <a:solidFill>
                  <a:srgbClr val="FFFFFF"/>
                </a:solidFill>
              </a:rPr>
              <a:t>System Overview</a:t>
            </a:r>
          </a:p>
        </p:txBody>
      </p:sp>
      <p:sp>
        <p:nvSpPr>
          <p:cNvPr id="24" name="Rectangle 23"/>
          <p:cNvSpPr/>
          <p:nvPr/>
        </p:nvSpPr>
        <p:spPr>
          <a:xfrm>
            <a:off x="7747254" y="17830800"/>
            <a:ext cx="7308342" cy="12618720"/>
          </a:xfrm>
          <a:prstGeom prst="rect">
            <a:avLst/>
          </a:prstGeom>
          <a:solidFill>
            <a:srgbClr val="F5E5C8"/>
          </a:solidFill>
          <a:ln w="9525">
            <a:solidFill>
              <a:srgbClr val="BBA08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91440"/>
          <a:lstStyle/>
          <a:p>
            <a:pPr algn="just"/>
            <a:r>
              <a:rPr sz="1800">
                <a:solidFill>
                  <a:srgbClr val="0A0A0A"/>
                </a:solidFill>
              </a:rPr>
              <a:t>BlockLand follows a three-tier architecture:
   Presentation — Next.js 14 (React, TypeScript, TailwindCSS). Role-specific dashboards for Admin, Registrar, Owner, and Buyer. Public /verify portal requires no login.
   Application — NestJS 10 REST API with JWT RS256 authentication and RBAC guards. BlockchainService adapts @stacks/transactions for all on-chain interactions.
   Persistence — PostgreSQL 15 stores operational metadata. Stacks Blockchain (Clarity smart contract) stores immutable ownership assertions as canonical ground truth. IPFS stores title deed documents; content hash committed on-chain.
The dual-ledger invariant: blockchain is authoritative; database is a queryable cache that must remain consistent with on-chain state.</a:t>
            </a:r>
          </a:p>
        </p:txBody>
      </p:sp>
      <p:sp>
        <p:nvSpPr>
          <p:cNvPr id="25" name="Rectangle 24"/>
          <p:cNvSpPr/>
          <p:nvPr/>
        </p:nvSpPr>
        <p:spPr>
          <a:xfrm>
            <a:off x="7747254" y="30540960"/>
            <a:ext cx="7308342" cy="6400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54864"/>
          <a:lstStyle/>
          <a:p>
            <a:pPr algn="ctr"/>
            <a:r>
              <a:rPr sz="2800" b="1">
                <a:solidFill>
                  <a:srgbClr val="FFFFFF"/>
                </a:solidFill>
              </a:rPr>
              <a:t>Use Cases / Transfer Workflow (UML)</a:t>
            </a:r>
          </a:p>
        </p:txBody>
      </p:sp>
      <p:sp>
        <p:nvSpPr>
          <p:cNvPr id="26" name="Rectangle 25"/>
          <p:cNvSpPr/>
          <p:nvPr/>
        </p:nvSpPr>
        <p:spPr>
          <a:xfrm>
            <a:off x="7747254" y="31181040"/>
            <a:ext cx="7308342" cy="10607040"/>
          </a:xfrm>
          <a:prstGeom prst="rect">
            <a:avLst/>
          </a:prstGeom>
          <a:solidFill>
            <a:srgbClr val="F5E5C8"/>
          </a:solidFill>
          <a:ln w="9525">
            <a:solidFill>
              <a:srgbClr val="BBA08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91440"/>
          <a:lstStyle/>
          <a:p>
            <a:pPr algn="ctr"/>
            <a:r>
              <a:rPr sz="1800" i="1">
                <a:solidFill>
                  <a:srgbClr val="333333"/>
                </a:solidFill>
              </a:rPr>
              <a:t>Three-step on-chain transfer workflow</a:t>
            </a:r>
          </a:p>
        </p:txBody>
      </p:sp>
      <p:pic>
        <p:nvPicPr>
          <p:cNvPr id="27" name="Picture 26" descr="07_activity.png"/>
          <p:cNvPicPr>
            <a:picLocks noChangeAspect="1"/>
          </p:cNvPicPr>
          <p:nvPr/>
        </p:nvPicPr>
        <p:blipFill>
          <a:blip r:embed="rId3"/>
          <a:stretch>
            <a:fillRect/>
          </a:stretch>
        </p:blipFill>
        <p:spPr>
          <a:xfrm>
            <a:off x="7838694" y="31638240"/>
            <a:ext cx="7125462" cy="10058400"/>
          </a:xfrm>
          <a:prstGeom prst="rect">
            <a:avLst/>
          </a:prstGeom>
        </p:spPr>
      </p:pic>
      <p:sp>
        <p:nvSpPr>
          <p:cNvPr id="28" name="Rectangle 27"/>
          <p:cNvSpPr/>
          <p:nvPr/>
        </p:nvSpPr>
        <p:spPr>
          <a:xfrm>
            <a:off x="15220188" y="3840480"/>
            <a:ext cx="7308342" cy="6400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54864"/>
          <a:lstStyle/>
          <a:p>
            <a:pPr algn="ctr"/>
            <a:r>
              <a:rPr sz="2800" b="1">
                <a:solidFill>
                  <a:srgbClr val="FFFFFF"/>
                </a:solidFill>
              </a:rPr>
              <a:t>Architecture Diagram</a:t>
            </a:r>
          </a:p>
        </p:txBody>
      </p:sp>
      <p:sp>
        <p:nvSpPr>
          <p:cNvPr id="29" name="Rectangle 28"/>
          <p:cNvSpPr/>
          <p:nvPr/>
        </p:nvSpPr>
        <p:spPr>
          <a:xfrm>
            <a:off x="15220188" y="4480560"/>
            <a:ext cx="7308342" cy="19933920"/>
          </a:xfrm>
          <a:prstGeom prst="rect">
            <a:avLst/>
          </a:prstGeom>
          <a:solidFill>
            <a:srgbClr val="F5E5C8"/>
          </a:solidFill>
          <a:ln w="9525">
            <a:solidFill>
              <a:srgbClr val="BBA08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91440"/>
          <a:lstStyle/>
          <a:p>
            <a:pPr algn="ctr"/>
            <a:r>
              <a:rPr sz="1800" i="1">
                <a:solidFill>
                  <a:srgbClr val="333333"/>
                </a:solidFill>
              </a:rPr>
              <a:t>Three-tier solution architecture</a:t>
            </a:r>
          </a:p>
        </p:txBody>
      </p:sp>
      <p:pic>
        <p:nvPicPr>
          <p:cNvPr id="30" name="Picture 29" descr="06_architecture.png"/>
          <p:cNvPicPr>
            <a:picLocks noChangeAspect="1"/>
          </p:cNvPicPr>
          <p:nvPr/>
        </p:nvPicPr>
        <p:blipFill>
          <a:blip r:embed="rId4"/>
          <a:stretch>
            <a:fillRect/>
          </a:stretch>
        </p:blipFill>
        <p:spPr>
          <a:xfrm>
            <a:off x="15265908" y="4846320"/>
            <a:ext cx="7216902" cy="19385280"/>
          </a:xfrm>
          <a:prstGeom prst="rect">
            <a:avLst/>
          </a:prstGeom>
        </p:spPr>
      </p:pic>
      <p:sp>
        <p:nvSpPr>
          <p:cNvPr id="31" name="Rectangle 30"/>
          <p:cNvSpPr/>
          <p:nvPr/>
        </p:nvSpPr>
        <p:spPr>
          <a:xfrm>
            <a:off x="15220188" y="24505920"/>
            <a:ext cx="7308342" cy="640080"/>
          </a:xfrm>
          <a:prstGeom prst="rect">
            <a:avLst/>
          </a:prstGeom>
          <a:solidFill>
            <a:srgbClr val="D4A017"/>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54864"/>
          <a:lstStyle/>
          <a:p>
            <a:pPr algn="ctr"/>
            <a:r>
              <a:rPr sz="2800" b="1">
                <a:solidFill>
                  <a:srgbClr val="FFFFFF"/>
                </a:solidFill>
              </a:rPr>
              <a:t>Results and Screenshots</a:t>
            </a:r>
          </a:p>
        </p:txBody>
      </p:sp>
      <p:sp>
        <p:nvSpPr>
          <p:cNvPr id="32" name="Rectangle 31"/>
          <p:cNvSpPr/>
          <p:nvPr/>
        </p:nvSpPr>
        <p:spPr>
          <a:xfrm>
            <a:off x="15220188" y="25146000"/>
            <a:ext cx="7308342" cy="16550640"/>
          </a:xfrm>
          <a:prstGeom prst="rect">
            <a:avLst/>
          </a:prstGeom>
          <a:solidFill>
            <a:srgbClr val="F5E5C8"/>
          </a:solidFill>
          <a:ln w="9525">
            <a:solidFill>
              <a:srgbClr val="BBA08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91440"/>
          <a:lstStyle/>
          <a:p>
            <a:pPr algn="l"/>
            <a:r>
              <a:rPr sz="1800" b="1">
                <a:solidFill>
                  <a:srgbClr val="0A0A0A"/>
                </a:solidFill>
              </a:rPr>
              <a:t>Security Test Results (all adversarial tests PASS):</a:t>
            </a:r>
          </a:p>
          <a:p>
            <a:pPr>
              <a:spcBef>
                <a:spcPts val="600"/>
              </a:spcBef>
            </a:pPr>
            <a:r>
              <a:rPr sz="1700">
                <a:solidFill>
                  <a:srgbClr val="0A0A0A"/>
                </a:solidFill>
              </a:rPr>
              <a:t>  JWT replay after 15-min expiry</a:t>
            </a:r>
            <a:r>
              <a:rPr sz="1700" b="1">
                <a:solidFill>
                  <a:srgbClr val="156E30"/>
                </a:solidFill>
              </a:rPr>
              <a:t>  ✔ PASS — 401 Unauthorized</a:t>
            </a:r>
          </a:p>
          <a:p>
            <a:pPr>
              <a:spcBef>
                <a:spcPts val="600"/>
              </a:spcBef>
            </a:pPr>
            <a:r>
              <a:rPr sz="1700">
                <a:solidFill>
                  <a:srgbClr val="0A0A0A"/>
                </a:solidFill>
              </a:rPr>
              <a:t>  JWT HS256 downgrade forgery attempt</a:t>
            </a:r>
            <a:r>
              <a:rPr sz="1700" b="1">
                <a:solidFill>
                  <a:srgbClr val="156E30"/>
                </a:solidFill>
              </a:rPr>
              <a:t>  ✔ PASS — 401 Unauthorized</a:t>
            </a:r>
          </a:p>
          <a:p>
            <a:pPr>
              <a:spcBef>
                <a:spcPts val="600"/>
              </a:spcBef>
            </a:pPr>
            <a:r>
              <a:rPr sz="1700">
                <a:solidFill>
                  <a:srgbClr val="0A0A0A"/>
                </a:solidFill>
              </a:rPr>
              <a:t>  Horizontal privilege escalation</a:t>
            </a:r>
            <a:r>
              <a:rPr sz="1700" b="1">
                <a:solidFill>
                  <a:srgbClr val="156E30"/>
                </a:solidFill>
              </a:rPr>
              <a:t>  ✔ PASS — 403 Forbidden</a:t>
            </a:r>
          </a:p>
          <a:p>
            <a:pPr>
              <a:spcBef>
                <a:spcPts val="600"/>
              </a:spcBef>
            </a:pPr>
            <a:r>
              <a:rPr sz="1700">
                <a:solidFill>
                  <a:srgbClr val="0A0A0A"/>
                </a:solidFill>
              </a:rPr>
              <a:t>  Double-transfer same plot</a:t>
            </a:r>
            <a:r>
              <a:rPr sz="1700" b="1">
                <a:solidFill>
                  <a:srgbClr val="156E30"/>
                </a:solidFill>
              </a:rPr>
              <a:t>  ✔ PASS — (err u106)</a:t>
            </a:r>
          </a:p>
          <a:p>
            <a:pPr>
              <a:spcBef>
                <a:spcPts val="600"/>
              </a:spcBef>
            </a:pPr>
            <a:r>
              <a:rPr sz="1700">
                <a:solidFill>
                  <a:srgbClr val="0A0A0A"/>
                </a:solidFill>
              </a:rPr>
              <a:t>  Direct contract call, non-registrar</a:t>
            </a:r>
            <a:r>
              <a:rPr sz="1700" b="1">
                <a:solidFill>
                  <a:srgbClr val="156E30"/>
                </a:solidFill>
              </a:rPr>
              <a:t>  ✔ PASS — (err u101)</a:t>
            </a:r>
          </a:p>
          <a:p>
            <a:pPr>
              <a:spcBef>
                <a:spcPts val="600"/>
              </a:spcBef>
            </a:pPr>
            <a:r>
              <a:rPr sz="1700">
                <a:solidFill>
                  <a:srgbClr val="0A0A0A"/>
                </a:solidFill>
              </a:rPr>
              <a:t>  IPFS hash substitution via contract</a:t>
            </a:r>
            <a:r>
              <a:rPr sz="1700" b="1">
                <a:solidFill>
                  <a:srgbClr val="156E30"/>
                </a:solidFill>
              </a:rPr>
              <a:t>  ✔ PASS — (err u101)</a:t>
            </a:r>
          </a:p>
          <a:p>
            <a:pPr>
              <a:spcBef>
                <a:spcPts val="1400"/>
              </a:spcBef>
            </a:pPr>
            <a:r>
              <a:rPr sz="1800" b="1">
                <a:solidFill>
                  <a:srgbClr val="0A0A0A"/>
                </a:solidFill>
              </a:rPr>
              <a:t>Performance Metrics (50 concurrent users):</a:t>
            </a:r>
          </a:p>
          <a:p>
            <a:pPr>
              <a:spcBef>
                <a:spcPts val="500"/>
              </a:spcBef>
            </a:pPr>
            <a:r>
              <a:rPr sz="1700">
                <a:solidFill>
                  <a:srgbClr val="0A0A0A"/>
                </a:solidFill>
              </a:rPr>
              <a:t>  Property listing (GET /properties):  </a:t>
            </a:r>
            <a:r>
              <a:rPr sz="1700" b="1">
                <a:solidFill>
                  <a:srgbClr val="1E3A8A"/>
                </a:solidFill>
              </a:rPr>
              <a:t>p95 = 45 ms</a:t>
            </a:r>
          </a:p>
          <a:p>
            <a:pPr>
              <a:spcBef>
                <a:spcPts val="500"/>
              </a:spcBef>
            </a:pPr>
            <a:r>
              <a:rPr sz="1700">
                <a:solidFill>
                  <a:srgbClr val="0A0A0A"/>
                </a:solidFill>
              </a:rPr>
              <a:t>  Public verify portal (/verify/:plot):  </a:t>
            </a:r>
            <a:r>
              <a:rPr sz="1700" b="1">
                <a:solidFill>
                  <a:srgbClr val="1E3A8A"/>
                </a:solidFill>
              </a:rPr>
              <a:t>p95 = 28 ms</a:t>
            </a:r>
          </a:p>
          <a:p>
            <a:pPr>
              <a:spcBef>
                <a:spcPts val="500"/>
              </a:spcBef>
            </a:pPr>
            <a:r>
              <a:rPr sz="1700">
                <a:solidFill>
                  <a:srgbClr val="0A0A0A"/>
                </a:solidFill>
              </a:rPr>
              <a:t>  Blockchain transfer (initiate):  </a:t>
            </a:r>
            <a:r>
              <a:rPr sz="1700" b="1">
                <a:solidFill>
                  <a:srgbClr val="1E3A8A"/>
                </a:solidFill>
              </a:rPr>
              <a:t>p95 = 2,100 ms</a:t>
            </a:r>
          </a:p>
          <a:p>
            <a:pPr>
              <a:spcBef>
                <a:spcPts val="500"/>
              </a:spcBef>
            </a:pPr>
            <a:r>
              <a:rPr sz="1700">
                <a:solidFill>
                  <a:srgbClr val="0A0A0A"/>
                </a:solidFill>
              </a:rPr>
              <a:t>  End-to-end transfer (testnet):  </a:t>
            </a:r>
            <a:r>
              <a:rPr sz="1700" b="1">
                <a:solidFill>
                  <a:srgbClr val="1E3A8A"/>
                </a:solidFill>
              </a:rPr>
              <a:t>&lt; 30 seconds</a:t>
            </a:r>
          </a:p>
          <a:p>
            <a:pPr>
              <a:spcBef>
                <a:spcPts val="1400"/>
              </a:spcBef>
            </a:pPr>
            <a:r>
              <a:rPr sz="1800" b="1">
                <a:solidFill>
                  <a:srgbClr val="0A0A0A"/>
                </a:solidFill>
              </a:rPr>
              <a:t>Functional Verification:</a:t>
            </a:r>
          </a:p>
          <a:p>
            <a:pPr>
              <a:spcBef>
                <a:spcPts val="600"/>
              </a:spcBef>
            </a:pPr>
            <a:r>
              <a:rPr sz="1700">
                <a:solidFill>
                  <a:srgbClr val="0A0A0A"/>
                </a:solidFill>
              </a:rPr>
              <a:t>  •  All 7 FRs derived from Deeds Registries Act verified via Clarinet test suite.</a:t>
            </a:r>
          </a:p>
          <a:p>
            <a:pPr>
              <a:spcBef>
                <a:spcPts val="600"/>
              </a:spcBef>
            </a:pPr>
            <a:r>
              <a:rPr sz="1700">
                <a:solidFill>
                  <a:srgbClr val="0A0A0A"/>
                </a:solidFill>
              </a:rPr>
              <a:t>  •  Three-step transfer workflow confirmed end-to-end on Stacks testnet.</a:t>
            </a:r>
          </a:p>
          <a:p>
            <a:pPr>
              <a:spcBef>
                <a:spcPts val="600"/>
              </a:spcBef>
            </a:pPr>
            <a:r>
              <a:rPr sz="1700">
                <a:solidFill>
                  <a:srgbClr val="0A0A0A"/>
                </a:solidFill>
              </a:rPr>
              <a:t>  •  Duplicate plot registration rejected at contract level (ERR-TITLE-DEED-EXISTS).</a:t>
            </a:r>
          </a:p>
          <a:p>
            <a:pPr>
              <a:spcBef>
                <a:spcPts val="600"/>
              </a:spcBef>
            </a:pPr>
            <a:r>
              <a:rPr sz="1700">
                <a:solidFill>
                  <a:srgbClr val="0A0A0A"/>
                </a:solidFill>
              </a:rPr>
              <a:t>  •  Public /verify portal returns ownership status in &lt; 50 ms, no login required.</a:t>
            </a:r>
          </a:p>
        </p:txBody>
      </p:sp>
      <p:pic>
        <p:nvPicPr>
          <p:cNvPr id="33" name="Picture 32" descr="12_interface.png"/>
          <p:cNvPicPr>
            <a:picLocks noChangeAspect="1"/>
          </p:cNvPicPr>
          <p:nvPr/>
        </p:nvPicPr>
        <p:blipFill>
          <a:blip r:embed="rId5"/>
          <a:stretch>
            <a:fillRect/>
          </a:stretch>
        </p:blipFill>
        <p:spPr>
          <a:xfrm>
            <a:off x="15311628" y="38770560"/>
            <a:ext cx="7125462" cy="2743200"/>
          </a:xfrm>
          <a:prstGeom prst="rect">
            <a:avLst/>
          </a:prstGeom>
        </p:spPr>
      </p:pic>
      <p:sp>
        <p:nvSpPr>
          <p:cNvPr id="34" name="Rectangle 33"/>
          <p:cNvSpPr/>
          <p:nvPr/>
        </p:nvSpPr>
        <p:spPr>
          <a:xfrm>
            <a:off x="22693122" y="3840480"/>
            <a:ext cx="7308342" cy="6400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54864"/>
          <a:lstStyle/>
          <a:p>
            <a:pPr algn="ctr"/>
            <a:r>
              <a:rPr sz="2800" b="1">
                <a:solidFill>
                  <a:srgbClr val="FFFFFF"/>
                </a:solidFill>
              </a:rPr>
              <a:t>Conclusion</a:t>
            </a:r>
          </a:p>
        </p:txBody>
      </p:sp>
      <p:sp>
        <p:nvSpPr>
          <p:cNvPr id="35" name="Rectangle 34"/>
          <p:cNvSpPr/>
          <p:nvPr/>
        </p:nvSpPr>
        <p:spPr>
          <a:xfrm>
            <a:off x="22693122" y="4480560"/>
            <a:ext cx="7308342" cy="12618720"/>
          </a:xfrm>
          <a:prstGeom prst="rect">
            <a:avLst/>
          </a:prstGeom>
          <a:solidFill>
            <a:srgbClr val="F5E5C8"/>
          </a:solidFill>
          <a:ln w="9525">
            <a:solidFill>
              <a:srgbClr val="BBA08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91440"/>
          <a:lstStyle/>
          <a:p>
            <a:pPr algn="just"/>
            <a:r>
              <a:rPr sz="1800">
                <a:solidFill>
                  <a:srgbClr val="0A0A0A"/>
                </a:solidFill>
              </a:rPr>
              <a:t>BlockLand demonstrates that targeted blockchain integration — anchoring only ownership assertions on-chain while preserving relational databases for operational richness — delivers meaningful security guarantees for Zimbabwe's land administration context.
The Clarity smart contract enforces the legally-required three-party transfer consent model (seller, buyer, registrar) as required by the Deeds Registries Act [Chapter 20:05], with independent signature verification at each step. No single party can unilaterally reassign ownership.
IPFS document hashing commits title deed content on-chain, making silent document substitution cryptographically detectable. The title-deed-index map makes duplicate plot registration impossible.
All seven principal functional requirements and six adversarial security test cases are verified. The system achieves sub-100 ms response times for non-blockchain operations, demonstrating practical deployability within Zimbabwe's infrastructure context.</a:t>
            </a:r>
          </a:p>
        </p:txBody>
      </p:sp>
      <p:sp>
        <p:nvSpPr>
          <p:cNvPr id="36" name="Rectangle 35"/>
          <p:cNvSpPr/>
          <p:nvPr/>
        </p:nvSpPr>
        <p:spPr>
          <a:xfrm>
            <a:off x="22693122" y="17190720"/>
            <a:ext cx="7308342" cy="6400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54864"/>
          <a:lstStyle/>
          <a:p>
            <a:pPr algn="ctr"/>
            <a:r>
              <a:rPr sz="2800" b="1">
                <a:solidFill>
                  <a:srgbClr val="FFFFFF"/>
                </a:solidFill>
              </a:rPr>
              <a:t>Future Work</a:t>
            </a:r>
          </a:p>
        </p:txBody>
      </p:sp>
      <p:sp>
        <p:nvSpPr>
          <p:cNvPr id="37" name="Rectangle 36"/>
          <p:cNvSpPr/>
          <p:nvPr/>
        </p:nvSpPr>
        <p:spPr>
          <a:xfrm>
            <a:off x="22693122" y="17830800"/>
            <a:ext cx="7308342" cy="8046720"/>
          </a:xfrm>
          <a:prstGeom prst="rect">
            <a:avLst/>
          </a:prstGeom>
          <a:solidFill>
            <a:srgbClr val="F5E5C8"/>
          </a:solidFill>
          <a:ln w="9525">
            <a:solidFill>
              <a:srgbClr val="BBA08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91440"/>
          <a:lstStyle/>
          <a:p>
            <a:pPr algn="l"/>
            <a:r>
              <a:rPr sz="1800">
                <a:solidFill>
                  <a:srgbClr val="0A0A0A"/>
                </a:solidFill>
              </a:rPr>
              <a:t>Planned improvements:</a:t>
            </a:r>
          </a:p>
          <a:p>
            <a:pPr>
              <a:spcBef>
                <a:spcPts val="800"/>
              </a:spcBef>
            </a:pPr>
            <a:r>
              <a:rPr sz="1700">
                <a:solidFill>
                  <a:srgbClr val="0A0A0A"/>
                </a:solidFill>
              </a:rPr>
              <a:t>•  Client-side Hiro Wallet signing — individual users sign their own blockchain transactions for non-repudiable per-user records.</a:t>
            </a:r>
          </a:p>
          <a:p>
            <a:pPr>
              <a:spcBef>
                <a:spcPts val="800"/>
              </a:spcBef>
            </a:pPr>
            <a:r>
              <a:rPr sz="1700">
                <a:solidFill>
                  <a:srgbClr val="0A0A0A"/>
                </a:solidFill>
              </a:rPr>
              <a:t>•  Stacks mainnet deployment — transfer full Bitcoin security guarantees to the ownership record.</a:t>
            </a:r>
          </a:p>
          <a:p>
            <a:pPr>
              <a:spcBef>
                <a:spcPts val="800"/>
              </a:spcBef>
            </a:pPr>
            <a:r>
              <a:rPr sz="1700">
                <a:solidFill>
                  <a:srgbClr val="0A0A0A"/>
                </a:solidFill>
              </a:rPr>
              <a:t>•  Zero-knowledge identity proofs — replace National ID transmission with ZK proofs to protect citizen privacy.</a:t>
            </a:r>
          </a:p>
          <a:p>
            <a:pPr>
              <a:spcBef>
                <a:spcPts val="800"/>
              </a:spcBef>
            </a:pPr>
            <a:r>
              <a:rPr sz="1700">
                <a:solidFill>
                  <a:srgbClr val="0A0A0A"/>
                </a:solidFill>
              </a:rPr>
              <a:t>•  Legislative engagement — support amendment of the Electronic Transactions and Electronic Commerce Act to legally recognise blockchain land records.</a:t>
            </a:r>
          </a:p>
          <a:p>
            <a:pPr>
              <a:spcBef>
                <a:spcPts val="800"/>
              </a:spcBef>
            </a:pPr>
            <a:r>
              <a:rPr sz="1700">
                <a:solidFill>
                  <a:srgbClr val="0A0A0A"/>
                </a:solidFill>
              </a:rPr>
              <a:t>•  National ID and owner name search on the public /verify portal to replace the current internal UUID-based lookup.</a:t>
            </a:r>
          </a:p>
        </p:txBody>
      </p:sp>
      <p:sp>
        <p:nvSpPr>
          <p:cNvPr id="38" name="Rectangle 37"/>
          <p:cNvSpPr/>
          <p:nvPr/>
        </p:nvSpPr>
        <p:spPr>
          <a:xfrm>
            <a:off x="22693122" y="25968960"/>
            <a:ext cx="7308342" cy="64008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54864"/>
          <a:lstStyle/>
          <a:p>
            <a:pPr algn="ctr"/>
            <a:r>
              <a:rPr sz="2800" b="1">
                <a:solidFill>
                  <a:srgbClr val="FFFFFF"/>
                </a:solidFill>
              </a:rPr>
              <a:t>References</a:t>
            </a:r>
          </a:p>
        </p:txBody>
      </p:sp>
      <p:sp>
        <p:nvSpPr>
          <p:cNvPr id="39" name="Rectangle 38"/>
          <p:cNvSpPr/>
          <p:nvPr/>
        </p:nvSpPr>
        <p:spPr>
          <a:xfrm>
            <a:off x="22693122" y="26609040"/>
            <a:ext cx="7308342" cy="15179040"/>
          </a:xfrm>
          <a:prstGeom prst="rect">
            <a:avLst/>
          </a:prstGeom>
          <a:solidFill>
            <a:srgbClr val="F5E5C8"/>
          </a:solidFill>
          <a:ln w="9525">
            <a:solidFill>
              <a:srgbClr val="BBA080"/>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tIns="91440" bIns="91440"/>
          <a:lstStyle/>
          <a:p>
            <a:pPr algn="ctr"/>
            <a:r>
              <a:rPr sz="1600">
                <a:solidFill>
                  <a:srgbClr val="0A0A0A"/>
                </a:solidFill>
              </a:rPr>
              <a:t>M. Zein, R. &amp; Twinomurinzi, H. (2023). Blockchain Technology in Lands Registration: A Systematic Literature Review. JeDEM, 15(2), pp. 1-36.</a:t>
            </a:r>
          </a:p>
          <a:p>
            <a:pPr>
              <a:spcBef>
                <a:spcPts val="600"/>
              </a:spcBef>
            </a:pPr>
            <a:r>
              <a:rPr sz="1600">
                <a:solidFill>
                  <a:srgbClr val="0A0A0A"/>
                </a:solidFill>
              </a:rPr>
              <a:t>Mansoor, M.A. et al. (2023). Blockchain Technology for Land Registry Management in Developing Countries. ETECTE Conf., Lahore.</a:t>
            </a:r>
          </a:p>
          <a:p>
            <a:pPr>
              <a:spcBef>
                <a:spcPts val="600"/>
              </a:spcBef>
            </a:pPr>
            <a:r>
              <a:rPr sz="1600">
                <a:solidFill>
                  <a:srgbClr val="0A0A0A"/>
                </a:solidFill>
              </a:rPr>
              <a:t>Alam, K.M. et al. (2022). A Blockchain-based Land Title Management System for Bangladesh. J. King Saud Univ., 34(6), pp. 3096-3110.</a:t>
            </a:r>
          </a:p>
          <a:p>
            <a:pPr>
              <a:spcBef>
                <a:spcPts val="600"/>
              </a:spcBef>
            </a:pPr>
            <a:r>
              <a:rPr sz="1600">
                <a:solidFill>
                  <a:srgbClr val="0A0A0A"/>
                </a:solidFill>
              </a:rPr>
              <a:t>Paavo, J.P. et al. (2025). Practicality of Blockchain for Land Registration: A Namibian Case Study. Land, 14(8), p. 1626.</a:t>
            </a:r>
          </a:p>
          <a:p>
            <a:pPr>
              <a:spcBef>
                <a:spcPts val="600"/>
              </a:spcBef>
            </a:pPr>
            <a:r>
              <a:rPr sz="1600">
                <a:solidFill>
                  <a:srgbClr val="0A0A0A"/>
                </a:solidFill>
              </a:rPr>
              <a:t>Konashevych, O. (2020). General Concept of Real Estate Tokenization on Blockchain. European Property Law Journal, 9(1), pp. 21-66.</a:t>
            </a:r>
          </a:p>
          <a:p>
            <a:pPr>
              <a:spcBef>
                <a:spcPts val="600"/>
              </a:spcBef>
            </a:pPr>
            <a:r>
              <a:rPr sz="1600">
                <a:solidFill>
                  <a:srgbClr val="0A0A0A"/>
                </a:solidFill>
              </a:rPr>
              <a:t>Dwivedi, R. et al. (2023). Blockchain-Based Transferable Digital Rights of Land. arXiv:2308.05950.</a:t>
            </a:r>
          </a:p>
          <a:p>
            <a:pPr>
              <a:spcBef>
                <a:spcPts val="600"/>
              </a:spcBef>
            </a:pPr>
            <a:r>
              <a:rPr sz="1600">
                <a:solidFill>
                  <a:srgbClr val="0A0A0A"/>
                </a:solidFill>
              </a:rPr>
              <a:t>Kombe, C. et al. (2017). Design of Land Administration and Title Registration Model Based on Blockchain Technology.</a:t>
            </a:r>
          </a:p>
          <a:p>
            <a:pPr>
              <a:spcBef>
                <a:spcPts val="600"/>
              </a:spcBef>
            </a:pPr>
            <a:r>
              <a:rPr sz="1600">
                <a:solidFill>
                  <a:srgbClr val="0A0A0A"/>
                </a:solidFill>
              </a:rPr>
              <a:t>Kimathi, K.T. (n.d.). A Land Administration Model Based on Blockchain Technology. [Unpublished thesis]. HIT, Harare.</a:t>
            </a:r>
          </a:p>
          <a:p>
            <a:pPr>
              <a:spcBef>
                <a:spcPts val="600"/>
              </a:spcBef>
            </a:pPr>
            <a:r>
              <a:rPr sz="1600">
                <a:solidFill>
                  <a:srgbClr val="0A0A0A"/>
                </a:solidFill>
              </a:rPr>
              <a:t>Ameyaw, P.D. &amp; de Vries, W.T. (2023). Blockchain technology adaptation for land administration: socio-cultural elements. Land Use Policy.</a:t>
            </a:r>
          </a:p>
          <a:p>
            <a:pPr>
              <a:spcBef>
                <a:spcPts val="600"/>
              </a:spcBef>
            </a:pPr>
            <a:r>
              <a:rPr sz="1600">
                <a:solidFill>
                  <a:srgbClr val="0A0A0A"/>
                </a:solidFill>
              </a:rPr>
              <a:t>Nakamoto, S. (2008). Bitcoin: A Peer-to-Peer Electronic Cash System.</a:t>
            </a:r>
          </a:p>
        </p:txBody>
      </p:sp>
      <p:sp>
        <p:nvSpPr>
          <p:cNvPr id="40" name="Rectangle 39"/>
          <p:cNvSpPr/>
          <p:nvPr/>
        </p:nvSpPr>
        <p:spPr>
          <a:xfrm>
            <a:off x="0" y="41696640"/>
            <a:ext cx="30275784" cy="109728"/>
          </a:xfrm>
          <a:prstGeom prst="rect">
            <a:avLst/>
          </a:prstGeom>
          <a:solidFill>
            <a:srgbClr val="8B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41806368"/>
            <a:ext cx="30275784" cy="9966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4320" y="41833800"/>
            <a:ext cx="2286000" cy="1005840"/>
          </a:xfrm>
          <a:prstGeom prst="rect">
            <a:avLst/>
          </a:prstGeom>
          <a:noFill/>
        </p:spPr>
        <p:txBody>
          <a:bodyPr wrap="square" lIns="45720" rIns="45720">
            <a:spAutoFit/>
          </a:bodyPr>
          <a:lstStyle/>
          <a:p>
            <a:pPr algn="l"/>
            <a:r>
              <a:rPr sz="6000" b="1" i="0">
                <a:solidFill>
                  <a:srgbClr val="0A0A0A"/>
                </a:solidFill>
              </a:rPr>
              <a:t>2025</a:t>
            </a:r>
          </a:p>
        </p:txBody>
      </p:sp>
      <p:sp>
        <p:nvSpPr>
          <p:cNvPr id="43" name="TextBox 42"/>
          <p:cNvSpPr txBox="1"/>
          <p:nvPr/>
        </p:nvSpPr>
        <p:spPr>
          <a:xfrm>
            <a:off x="2834639" y="41861232"/>
            <a:ext cx="26983944" cy="914400"/>
          </a:xfrm>
          <a:prstGeom prst="rect">
            <a:avLst/>
          </a:prstGeom>
          <a:noFill/>
        </p:spPr>
        <p:txBody>
          <a:bodyPr wrap="square" lIns="45720" rIns="45720">
            <a:spAutoFit/>
          </a:bodyPr>
          <a:lstStyle/>
          <a:p>
            <a:pPr algn="ctr"/>
            <a:r>
              <a:rPr sz="1800" b="0" i="0">
                <a:solidFill>
                  <a:srgbClr val="333333"/>
                </a:solidFill>
              </a:rPr>
              <a:t>Harare Institute of Technology
P.O. Box BE 277, Belvedere, Harare, Zimbabwe
success through innovation</a:t>
            </a:r>
          </a:p>
        </p:txBody>
      </p:sp>
      <p:sp>
        <p:nvSpPr>
          <p:cNvPr id="44" name="Rectangle 43"/>
          <p:cNvSpPr/>
          <p:nvPr/>
        </p:nvSpPr>
        <p:spPr>
          <a:xfrm>
            <a:off x="0" y="42693336"/>
            <a:ext cx="30275784" cy="109728"/>
          </a:xfrm>
          <a:prstGeom prst="rect">
            <a:avLst/>
          </a:prstGeom>
          <a:solidFill>
            <a:srgbClr val="8B0A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