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0D1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57432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BlockLand: A Blockchain-Based Land Registry
and Management System for Zimbabwe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600200"/>
            <a:ext cx="12188952" cy="91440"/>
          </a:xfrm>
          <a:prstGeom prst="rect">
            <a:avLst/>
          </a:prstGeom>
          <a:solidFill>
            <a:srgbClr val="1A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12188952" cy="4114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43032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 i="1">
                <a:solidFill>
                  <a:srgbClr val="0A0A0A"/>
                </a:solidFill>
                <a:latin typeface="Calibri"/>
              </a:rPr>
              <a:t>A capstone thesis submitted in partial fulfilment of the requirements for the degree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67712"/>
            <a:ext cx="10543032" cy="3474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BACHELOR OF TECHNOLOGY in INFORMATION SECURITY AND ASSURANCE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33472"/>
            <a:ext cx="1054303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 i="1">
                <a:solidFill>
                  <a:srgbClr val="0A0A0A"/>
                </a:solidFill>
                <a:latin typeface="Calibri"/>
              </a:rPr>
              <a:t>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10543032" cy="4389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800" b="1" i="0">
                <a:solidFill>
                  <a:srgbClr val="0A0A0A"/>
                </a:solidFill>
                <a:latin typeface="Palatino Linotype"/>
              </a:rPr>
              <a:t>Tinotenda James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10128"/>
            <a:ext cx="1054303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0A0A0A"/>
                </a:solidFill>
                <a:latin typeface="Calibri"/>
              </a:rPr>
              <a:t>H220349M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47872"/>
            <a:ext cx="1054303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0A0A0A"/>
                </a:solidFill>
                <a:latin typeface="Calibri"/>
              </a:rPr>
              <a:t>h220349m@hit.ac.zw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86200"/>
            <a:ext cx="1054303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 i="1">
                <a:solidFill>
                  <a:srgbClr val="0A0A0A"/>
                </a:solidFill>
                <a:latin typeface="Calibri"/>
              </a:rPr>
              <a:t>Under the guidance 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33087"/>
            <a:ext cx="10543032" cy="43891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400" b="1" i="0">
                <a:solidFill>
                  <a:srgbClr val="0A0A0A"/>
                </a:solidFill>
                <a:latin typeface="Palatino Linotype"/>
              </a:rPr>
              <a:t>Ms Chavhunduka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53712"/>
            <a:ext cx="1054303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0A0A0A"/>
                </a:solidFill>
                <a:latin typeface="Calibri"/>
              </a:rPr>
              <a:t>LECTURER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37760"/>
            <a:ext cx="1054303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School of Information Sciences and Technology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93792"/>
            <a:ext cx="10543032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  <a:latin typeface="Calibri"/>
              </a:rPr>
              <a:t>Harare Institute of Technology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431536"/>
            <a:ext cx="10543032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0A0A0A"/>
                </a:solidFill>
                <a:latin typeface="Calibri"/>
              </a:rPr>
              <a:t>BE277, Ganges Road, Belvedere, Harare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669279"/>
            <a:ext cx="1054303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 i="0">
                <a:solidFill>
                  <a:srgbClr val="1A6B55"/>
                </a:solidFill>
                <a:latin typeface="Calibri"/>
              </a:rPr>
              <a:t>May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355080"/>
            <a:ext cx="6583680" cy="502920"/>
          </a:xfrm>
          <a:prstGeom prst="rect">
            <a:avLst/>
          </a:prstGeom>
          <a:solidFill>
            <a:srgbClr val="0D1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6355080"/>
            <a:ext cx="5148072" cy="502920"/>
          </a:xfrm>
          <a:prstGeom prst="rect">
            <a:avLst/>
          </a:prstGeom>
          <a:solidFill>
            <a:srgbClr val="1A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731752" y="6355080"/>
            <a:ext cx="45720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" y="6428232"/>
            <a:ext cx="6400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DEPARTMENT OF INFORMATION SECURITY AND ASSURANCE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6428232"/>
            <a:ext cx="4937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HARARE INSTITUTE OF TECHNOLOGY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50040" y="6409944"/>
            <a:ext cx="402336" cy="3931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 i="0">
                <a:solidFill>
                  <a:srgbClr val="0D1741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1A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0"/>
            <a:ext cx="120060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BlockLand: Blockchain-Based Land Registry System for Zimbabwe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74320"/>
            <a:ext cx="12188952" cy="1005840"/>
          </a:xfrm>
          <a:prstGeom prst="rect">
            <a:avLst/>
          </a:prstGeom>
          <a:solidFill>
            <a:srgbClr val="0D1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11731752" cy="9692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Calibri Light"/>
              </a:rPr>
              <a:t>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4114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6583680" cy="502920"/>
          </a:xfrm>
          <a:prstGeom prst="rect">
            <a:avLst/>
          </a:prstGeom>
          <a:solidFill>
            <a:srgbClr val="0D1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6355080"/>
            <a:ext cx="5148072" cy="502920"/>
          </a:xfrm>
          <a:prstGeom prst="rect">
            <a:avLst/>
          </a:prstGeom>
          <a:solidFill>
            <a:srgbClr val="1A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31752" y="6355080"/>
            <a:ext cx="45720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6428232"/>
            <a:ext cx="6400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DEPARTMENT OF INFORMATION SECURITY AND ASSURANCE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6428232"/>
            <a:ext cx="4937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HARARE INSTITUTE OF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0040" y="6409944"/>
            <a:ext cx="402336" cy="3931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 i="0">
                <a:solidFill>
                  <a:srgbClr val="0D1741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5257800"/>
            <a:ext cx="100584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200" b="1" i="0">
                <a:solidFill>
                  <a:srgbClr val="0D1741"/>
                </a:solidFill>
                <a:latin typeface="Calibri"/>
              </a:rPr>
              <a:t>HIT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5577840"/>
            <a:ext cx="150876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700" b="0" i="0">
                <a:solidFill>
                  <a:srgbClr val="0D1741"/>
                </a:solidFill>
                <a:latin typeface="Calibri"/>
              </a:rPr>
              <a:t>Harare Institute
of Technology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1417320"/>
            <a:ext cx="9875520" cy="4800600"/>
          </a:xfrm>
          <a:prstGeom prst="rect">
            <a:avLst/>
          </a:prstGeom>
          <a:noFill/>
        </p:spPr>
        <p:txBody>
          <a:bodyPr wrap="square" lIns="45720" rIns="45720" tIns="73152" bIns="73152">
            <a:spAutoFit/>
          </a:bodyPr>
          <a:lstStyle/>
          <a:p>
            <a:pPr>
              <a:spcBef>
                <a:spcPts val="400"/>
              </a:spcBef>
            </a:pPr>
            <a:r>
              <a:t/>
            </a:r>
            <a:r>
              <a:rPr sz="2400">
                <a:solidFill>
                  <a:srgbClr val="0A0A0A"/>
                </a:solidFill>
                <a:latin typeface="Calibri"/>
              </a:rPr>
              <a:t>❑  Introduction</a:t>
            </a:r>
          </a:p>
          <a:p>
            <a:pPr>
              <a:spcBef>
                <a:spcPts val="1000"/>
              </a:spcBef>
            </a:pPr>
            <a:r>
              <a:rPr sz="2400">
                <a:solidFill>
                  <a:srgbClr val="0A0A0A"/>
                </a:solidFill>
                <a:latin typeface="Calibri"/>
              </a:rPr>
              <a:t>❑  Problem Statement</a:t>
            </a:r>
          </a:p>
          <a:p>
            <a:pPr>
              <a:spcBef>
                <a:spcPts val="1000"/>
              </a:spcBef>
            </a:pPr>
            <a:r>
              <a:rPr sz="2400">
                <a:solidFill>
                  <a:srgbClr val="0A0A0A"/>
                </a:solidFill>
                <a:latin typeface="Calibri"/>
              </a:rPr>
              <a:t>❑  Objectives</a:t>
            </a:r>
          </a:p>
          <a:p>
            <a:pPr>
              <a:spcBef>
                <a:spcPts val="1000"/>
              </a:spcBef>
            </a:pPr>
            <a:r>
              <a:rPr sz="2400">
                <a:solidFill>
                  <a:srgbClr val="0A0A0A"/>
                </a:solidFill>
                <a:latin typeface="Calibri"/>
              </a:rPr>
              <a:t>❑  Related Works</a:t>
            </a:r>
          </a:p>
          <a:p>
            <a:pPr>
              <a:spcBef>
                <a:spcPts val="1000"/>
              </a:spcBef>
            </a:pPr>
            <a:r>
              <a:rPr sz="2400">
                <a:solidFill>
                  <a:srgbClr val="0A0A0A"/>
                </a:solidFill>
                <a:latin typeface="Calibri"/>
              </a:rPr>
              <a:t>❑  Proposed Solution</a:t>
            </a:r>
          </a:p>
          <a:p>
            <a:pPr>
              <a:spcBef>
                <a:spcPts val="1000"/>
              </a:spcBef>
            </a:pPr>
            <a:r>
              <a:rPr sz="2400">
                <a:solidFill>
                  <a:srgbClr val="0A0A0A"/>
                </a:solidFill>
                <a:latin typeface="Calibri"/>
              </a:rPr>
              <a:t>❑  System Design &amp; Smart Contract</a:t>
            </a:r>
          </a:p>
          <a:p>
            <a:pPr>
              <a:spcBef>
                <a:spcPts val="1000"/>
              </a:spcBef>
            </a:pPr>
            <a:r>
              <a:rPr sz="2400">
                <a:solidFill>
                  <a:srgbClr val="0A0A0A"/>
                </a:solidFill>
                <a:latin typeface="Calibri"/>
              </a:rPr>
              <a:t>❑  Security Analysis</a:t>
            </a:r>
          </a:p>
          <a:p>
            <a:pPr>
              <a:spcBef>
                <a:spcPts val="1000"/>
              </a:spcBef>
            </a:pPr>
            <a:r>
              <a:rPr sz="2400">
                <a:solidFill>
                  <a:srgbClr val="0A0A0A"/>
                </a:solidFill>
                <a:latin typeface="Calibri"/>
              </a:rPr>
              <a:t>❑  Results &amp; Evaluation</a:t>
            </a:r>
          </a:p>
          <a:p>
            <a:pPr>
              <a:spcBef>
                <a:spcPts val="1000"/>
              </a:spcBef>
            </a:pPr>
            <a:r>
              <a:rPr sz="2400">
                <a:solidFill>
                  <a:srgbClr val="0A0A0A"/>
                </a:solidFill>
                <a:latin typeface="Calibri"/>
              </a:rPr>
              <a:t>❑  Conclusion and Future Work</a:t>
            </a:r>
          </a:p>
          <a:p>
            <a:pPr>
              <a:spcBef>
                <a:spcPts val="1000"/>
              </a:spcBef>
            </a:pPr>
            <a:r>
              <a:rPr sz="2400">
                <a:solidFill>
                  <a:srgbClr val="0A0A0A"/>
                </a:solidFill>
                <a:latin typeface="Calibri"/>
              </a:rPr>
              <a:t>❑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1A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0"/>
            <a:ext cx="120060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BlockLand: Blockchain-Based Land Registry System for Zimbabwe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74320"/>
            <a:ext cx="12188952" cy="1005840"/>
          </a:xfrm>
          <a:prstGeom prst="rect">
            <a:avLst/>
          </a:prstGeom>
          <a:solidFill>
            <a:srgbClr val="0D1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11731752" cy="9692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Calibri Light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4114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6583680" cy="502920"/>
          </a:xfrm>
          <a:prstGeom prst="rect">
            <a:avLst/>
          </a:prstGeom>
          <a:solidFill>
            <a:srgbClr val="0D1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6355080"/>
            <a:ext cx="5148072" cy="502920"/>
          </a:xfrm>
          <a:prstGeom prst="rect">
            <a:avLst/>
          </a:prstGeom>
          <a:solidFill>
            <a:srgbClr val="1A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31752" y="6355080"/>
            <a:ext cx="45720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6428232"/>
            <a:ext cx="6400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DEPARTMENT OF INFORMATION SECURITY AND ASSURANCE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6428232"/>
            <a:ext cx="4937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HARARE INSTITUTE OF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0040" y="6409944"/>
            <a:ext cx="402336" cy="3931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 i="0">
                <a:solidFill>
                  <a:srgbClr val="0D1741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5257800"/>
            <a:ext cx="100584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200" b="1" i="0">
                <a:solidFill>
                  <a:srgbClr val="0D1741"/>
                </a:solidFill>
                <a:latin typeface="Calibri"/>
              </a:rPr>
              <a:t>HIT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5577840"/>
            <a:ext cx="150876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700" b="0" i="0">
                <a:solidFill>
                  <a:srgbClr val="0D1741"/>
                </a:solidFill>
                <a:latin typeface="Calibri"/>
              </a:rPr>
              <a:t>Harare Institute
of Technology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1417320"/>
            <a:ext cx="9875520" cy="4800600"/>
          </a:xfrm>
          <a:prstGeom prst="rect">
            <a:avLst/>
          </a:prstGeom>
          <a:noFill/>
        </p:spPr>
        <p:txBody>
          <a:bodyPr wrap="square" lIns="45720" rIns="45720" tIns="73152" bIns="73152">
            <a:spAutoFit/>
          </a:bodyPr>
          <a:lstStyle/>
          <a:p>
            <a:r>
              <a:rPr sz="2200" b="1">
                <a:solidFill>
                  <a:srgbClr val="0D1741"/>
                </a:solidFill>
                <a:latin typeface="Calibri"/>
              </a:rPr>
              <a:t>Land Administration in Zimbabwe</a:t>
            </a:r>
          </a:p>
          <a:p>
            <a:pPr algn="l">
              <a:spcBef>
                <a:spcPts val="1000"/>
              </a:spcBef>
            </a:pPr>
            <a:r>
              <a:rPr sz="1900" b="0" i="0">
                <a:solidFill>
                  <a:srgbClr val="0A0A0A"/>
                </a:solidFill>
                <a:latin typeface="Calibri"/>
              </a:rPr>
              <a:t>•  Land is the most significant asset class in Zimbabwe, yet the Deeds Registry operates under a paper-based, centralised system (Deeds Registries Act [Chapter 20:05]).</a:t>
            </a:r>
          </a:p>
          <a:p>
            <a:pPr algn="l">
              <a:spcBef>
                <a:spcPts val="1000"/>
              </a:spcBef>
            </a:pPr>
            <a:r>
              <a:rPr sz="1900" b="0" i="0">
                <a:solidFill>
                  <a:srgbClr val="0A0A0A"/>
                </a:solidFill>
                <a:latin typeface="Calibri"/>
              </a:rPr>
              <a:t>•  Physical title deeds are vulnerable to forgery, loss, and manipulation with no cryptographic proof of authenticity.</a:t>
            </a:r>
          </a:p>
          <a:p>
            <a:pPr algn="l">
              <a:spcBef>
                <a:spcPts val="1000"/>
              </a:spcBef>
            </a:pPr>
            <a:r>
              <a:rPr sz="1900" b="0" i="0">
                <a:solidFill>
                  <a:srgbClr val="0A0A0A"/>
                </a:solidFill>
                <a:latin typeface="Calibri"/>
              </a:rPr>
              <a:t>•  No public mechanism exists for citizens, banks, or lawyers to independently verify property ownership without a formal Registry inquiry.</a:t>
            </a:r>
          </a:p>
          <a:p>
            <a:pPr algn="l">
              <a:spcBef>
                <a:spcPts val="1800"/>
              </a:spcBef>
            </a:pPr>
            <a:r>
              <a:rPr sz="2200" b="1" i="0">
                <a:solidFill>
                  <a:srgbClr val="0D1741"/>
                </a:solidFill>
                <a:latin typeface="Calibri"/>
              </a:rPr>
              <a:t>Why Blockchain?</a:t>
            </a:r>
          </a:p>
          <a:p>
            <a:pPr algn="l">
              <a:spcBef>
                <a:spcPts val="800"/>
              </a:spcBef>
            </a:pPr>
            <a:r>
              <a:rPr sz="1900" b="0" i="0">
                <a:solidFill>
                  <a:srgbClr val="0A0A0A"/>
                </a:solidFill>
                <a:latin typeface="Calibri"/>
              </a:rPr>
              <a:t>•  Immutability — ownership records cannot be silently altered once committed on-chain.</a:t>
            </a:r>
          </a:p>
          <a:p>
            <a:pPr algn="l">
              <a:spcBef>
                <a:spcPts val="800"/>
              </a:spcBef>
            </a:pPr>
            <a:r>
              <a:rPr sz="1900" b="0" i="0">
                <a:solidFill>
                  <a:srgbClr val="0A0A0A"/>
                </a:solidFill>
                <a:latin typeface="Calibri"/>
              </a:rPr>
              <a:t>•  Transparency — any party can audit the full chain of ownership independently.</a:t>
            </a:r>
          </a:p>
          <a:p>
            <a:pPr algn="l">
              <a:spcBef>
                <a:spcPts val="800"/>
              </a:spcBef>
            </a:pPr>
            <a:r>
              <a:rPr sz="1900" b="0" i="0">
                <a:solidFill>
                  <a:srgbClr val="0A0A0A"/>
                </a:solidFill>
                <a:latin typeface="Calibri"/>
              </a:rPr>
              <a:t>•  Programmability — smart contracts enforce multi-party transfer workflows, eliminating procedural fraud.</a:t>
            </a:r>
          </a:p>
          <a:p>
            <a:pPr algn="l">
              <a:spcBef>
                <a:spcPts val="800"/>
              </a:spcBef>
            </a:pPr>
            <a:r>
              <a:rPr sz="1900" b="0" i="0">
                <a:solidFill>
                  <a:srgbClr val="0A0A0A"/>
                </a:solidFill>
                <a:latin typeface="Calibri"/>
              </a:rPr>
              <a:t>•  Bitcoin-anchored security — BlockLand uses the Stacks blockchain, which settles each block to Bitcoin via Proof of Transfer (PoX).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1A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0"/>
            <a:ext cx="120060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BlockLand: Blockchain-Based Land Registry System for Zimbabwe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74320"/>
            <a:ext cx="12188952" cy="1005840"/>
          </a:xfrm>
          <a:prstGeom prst="rect">
            <a:avLst/>
          </a:prstGeom>
          <a:solidFill>
            <a:srgbClr val="0D1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11731752" cy="9692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Calibri Light"/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4114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6583680" cy="502920"/>
          </a:xfrm>
          <a:prstGeom prst="rect">
            <a:avLst/>
          </a:prstGeom>
          <a:solidFill>
            <a:srgbClr val="0D1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6355080"/>
            <a:ext cx="5148072" cy="502920"/>
          </a:xfrm>
          <a:prstGeom prst="rect">
            <a:avLst/>
          </a:prstGeom>
          <a:solidFill>
            <a:srgbClr val="1A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31752" y="6355080"/>
            <a:ext cx="45720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6428232"/>
            <a:ext cx="6400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DEPARTMENT OF INFORMATION SECURITY AND ASSURANCE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6428232"/>
            <a:ext cx="4937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HARARE INSTITUTE OF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0040" y="6409944"/>
            <a:ext cx="402336" cy="3931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 i="0">
                <a:solidFill>
                  <a:srgbClr val="0D1741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5257800"/>
            <a:ext cx="100584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200" b="1" i="0">
                <a:solidFill>
                  <a:srgbClr val="0D1741"/>
                </a:solidFill>
                <a:latin typeface="Calibri"/>
              </a:rPr>
              <a:t>HIT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5577840"/>
            <a:ext cx="150876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700" b="0" i="0">
                <a:solidFill>
                  <a:srgbClr val="0D1741"/>
                </a:solidFill>
                <a:latin typeface="Calibri"/>
              </a:rPr>
              <a:t>Harare Institute
of Technology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1417320"/>
            <a:ext cx="9875520" cy="4800600"/>
          </a:xfrm>
          <a:prstGeom prst="rect">
            <a:avLst/>
          </a:prstGeom>
          <a:noFill/>
        </p:spPr>
        <p:txBody>
          <a:bodyPr wrap="square" lIns="45720" rIns="45720" tIns="73152" bIns="73152">
            <a:spAutoFit/>
          </a:bodyPr>
          <a:lstStyle/>
          <a:p>
            <a:r>
              <a:rPr sz="2000" i="1">
                <a:solidFill>
                  <a:srgbClr val="0D1741"/>
                </a:solidFill>
                <a:latin typeface="Calibri"/>
              </a:rPr>
              <a:t>Zimbabwe's land administration system relies on paper-based title deeds and a centralised manual ledger, creating five critical vulnerabilities:</a:t>
            </a:r>
          </a:p>
          <a:p>
            <a:pPr>
              <a:spcBef>
                <a:spcPts val="1000"/>
              </a:spcBef>
            </a:pPr>
            <a:r>
              <a:rPr sz="1900" b="1">
                <a:solidFill>
                  <a:srgbClr val="B8860B"/>
                </a:solidFill>
                <a:latin typeface="Calibri"/>
              </a:rPr>
              <a:t>1.  Title Deed Forgery: </a:t>
            </a:r>
            <a:r>
              <a:rPr sz="1900" b="0">
                <a:solidFill>
                  <a:srgbClr val="0A0A0A"/>
                </a:solidFill>
                <a:latin typeface="Calibri"/>
              </a:rPr>
              <a:t>Physical documents can be duplicated or falsified with no cryptographic reference for verification.</a:t>
            </a:r>
          </a:p>
          <a:p>
            <a:pPr>
              <a:spcBef>
                <a:spcPts val="1000"/>
              </a:spcBef>
            </a:pPr>
            <a:r>
              <a:rPr sz="1900" b="1">
                <a:solidFill>
                  <a:srgbClr val="B8860B"/>
                </a:solidFill>
                <a:latin typeface="Calibri"/>
              </a:rPr>
              <a:t>2.  Opacity of Ownership History: </a:t>
            </a:r>
            <a:r>
              <a:rPr sz="1900" b="0">
                <a:solidFill>
                  <a:srgbClr val="0A0A0A"/>
                </a:solidFill>
                <a:latin typeface="Calibri"/>
              </a:rPr>
              <a:t>No publicly accessible, tamper-evident record of who owned a property and when.</a:t>
            </a:r>
          </a:p>
          <a:p>
            <a:pPr>
              <a:spcBef>
                <a:spcPts val="1000"/>
              </a:spcBef>
            </a:pPr>
            <a:r>
              <a:rPr sz="1900" b="1">
                <a:solidFill>
                  <a:srgbClr val="B8860B"/>
                </a:solidFill>
                <a:latin typeface="Calibri"/>
              </a:rPr>
              <a:t>3.  Single Point of Failure: </a:t>
            </a:r>
            <a:r>
              <a:rPr sz="1900" b="0">
                <a:solidFill>
                  <a:srgbClr val="0A0A0A"/>
                </a:solidFill>
                <a:latin typeface="Calibri"/>
              </a:rPr>
              <a:t>The centralised Deeds Registry is the sole authority — its integrity cannot be independently verified by any external party.</a:t>
            </a:r>
          </a:p>
          <a:p>
            <a:pPr>
              <a:spcBef>
                <a:spcPts val="1000"/>
              </a:spcBef>
            </a:pPr>
            <a:r>
              <a:rPr sz="1900" b="1">
                <a:solidFill>
                  <a:srgbClr val="B8860B"/>
                </a:solidFill>
                <a:latin typeface="Calibri"/>
              </a:rPr>
              <a:t>4.  Slow Transfer Process: </a:t>
            </a:r>
            <a:r>
              <a:rPr sz="1900" b="0">
                <a:solidFill>
                  <a:srgbClr val="0A0A0A"/>
                </a:solidFill>
                <a:latin typeface="Calibri"/>
              </a:rPr>
              <a:t>Property transfers require physical document exchange and in-person approvals, taking days to weeks.</a:t>
            </a:r>
          </a:p>
          <a:p>
            <a:pPr>
              <a:spcBef>
                <a:spcPts val="1000"/>
              </a:spcBef>
            </a:pPr>
            <a:r>
              <a:rPr sz="1900" b="1">
                <a:solidFill>
                  <a:srgbClr val="B8860B"/>
                </a:solidFill>
                <a:latin typeface="Calibri"/>
              </a:rPr>
              <a:t>5.  No Public Verification: </a:t>
            </a:r>
            <a:r>
              <a:rPr sz="1900" b="0">
                <a:solidFill>
                  <a:srgbClr val="0A0A0A"/>
                </a:solidFill>
                <a:latin typeface="Calibri"/>
              </a:rPr>
              <a:t>Citizens, banks, and legal practitioners cannot instantly confirm ownership without a formal inquiry to the Registry.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1A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0"/>
            <a:ext cx="120060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BlockLand: Blockchain-Based Land Registry System for Zimbabwe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74320"/>
            <a:ext cx="12188952" cy="1005840"/>
          </a:xfrm>
          <a:prstGeom prst="rect">
            <a:avLst/>
          </a:prstGeom>
          <a:solidFill>
            <a:srgbClr val="0D1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11731752" cy="9692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Calibri Light"/>
              </a:rP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4114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6583680" cy="502920"/>
          </a:xfrm>
          <a:prstGeom prst="rect">
            <a:avLst/>
          </a:prstGeom>
          <a:solidFill>
            <a:srgbClr val="0D1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6355080"/>
            <a:ext cx="5148072" cy="502920"/>
          </a:xfrm>
          <a:prstGeom prst="rect">
            <a:avLst/>
          </a:prstGeom>
          <a:solidFill>
            <a:srgbClr val="1A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31752" y="6355080"/>
            <a:ext cx="45720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6428232"/>
            <a:ext cx="6400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DEPARTMENT OF INFORMATION SECURITY AND ASSURANCE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6428232"/>
            <a:ext cx="4937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HARARE INSTITUTE OF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0040" y="6409944"/>
            <a:ext cx="402336" cy="3931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 i="0">
                <a:solidFill>
                  <a:srgbClr val="0D1741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5257800"/>
            <a:ext cx="100584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200" b="1" i="0">
                <a:solidFill>
                  <a:srgbClr val="0D1741"/>
                </a:solidFill>
                <a:latin typeface="Calibri"/>
              </a:rPr>
              <a:t>HIT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5577840"/>
            <a:ext cx="150876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700" b="0" i="0">
                <a:solidFill>
                  <a:srgbClr val="0D1741"/>
                </a:solidFill>
                <a:latin typeface="Calibri"/>
              </a:rPr>
              <a:t>Harare Institute
of Technology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1463040"/>
            <a:ext cx="9875520" cy="4663440"/>
          </a:xfrm>
          <a:prstGeom prst="rect">
            <a:avLst/>
          </a:prstGeom>
          <a:noFill/>
        </p:spPr>
        <p:txBody>
          <a:bodyPr wrap="square" lIns="45720" rIns="45720" tIns="73152" bIns="73152">
            <a:spAutoFit/>
          </a:bodyPr>
          <a:lstStyle/>
          <a:p>
            <a:r>
              <a:rPr sz="2100" b="1">
                <a:solidFill>
                  <a:srgbClr val="0D1741"/>
                </a:solidFill>
                <a:latin typeface="Calibri"/>
              </a:rPr>
              <a:t>This project aims:</a:t>
            </a:r>
          </a:p>
          <a:p>
            <a:pPr algn="l">
              <a:spcBef>
                <a:spcPts val="1400"/>
              </a:spcBef>
            </a:pPr>
            <a:r>
              <a:rPr sz="1200" b="0" i="0">
                <a:solidFill>
                  <a:srgbClr val="0A0A0A"/>
                </a:solidFill>
                <a:latin typeface="Calibri"/>
              </a:rPr>
              <a:t/>
            </a:r>
          </a:p>
          <a:p>
            <a:pPr>
              <a:spcBef>
                <a:spcPts val="0"/>
              </a:spcBef>
            </a:pPr>
            <a:r>
              <a:rPr sz="2000" b="1">
                <a:solidFill>
                  <a:srgbClr val="1A6B55"/>
                </a:solidFill>
                <a:latin typeface="Calibri"/>
              </a:rPr>
              <a:t>✔  Objective 1 — Digital Registration Workflow</a:t>
            </a:r>
          </a:p>
          <a:p>
            <a:pPr marL="320040">
              <a:spcBef>
                <a:spcPts val="400"/>
              </a:spcBef>
            </a:pPr>
            <a:r>
              <a:rPr sz="1800">
                <a:solidFill>
                  <a:srgbClr val="0A0A0A"/>
                </a:solidFill>
                <a:latin typeface="Calibri"/>
              </a:rPr>
              <a:t>To provide a digital submission, review, and approval workflow for property title registrations — eliminating paper-based processes and reducing registration time from weeks to minutes.</a:t>
            </a:r>
          </a:p>
          <a:p>
            <a:pPr algn="l">
              <a:spcBef>
                <a:spcPts val="1400"/>
              </a:spcBef>
            </a:pPr>
            <a:r>
              <a:rPr sz="1200" b="0" i="0">
                <a:solidFill>
                  <a:srgbClr val="0A0A0A"/>
                </a:solidFill>
                <a:latin typeface="Calibri"/>
              </a:rPr>
              <a:t/>
            </a:r>
          </a:p>
          <a:p>
            <a:pPr>
              <a:spcBef>
                <a:spcPts val="0"/>
              </a:spcBef>
            </a:pPr>
            <a:r>
              <a:rPr sz="2000" b="1">
                <a:solidFill>
                  <a:srgbClr val="1A6B55"/>
                </a:solidFill>
                <a:latin typeface="Calibri"/>
              </a:rPr>
              <a:t>✔  Objective 2 — On-Chain Unique Token ID</a:t>
            </a:r>
          </a:p>
          <a:p>
            <a:pPr marL="320040">
              <a:spcBef>
                <a:spcPts val="400"/>
              </a:spcBef>
            </a:pPr>
            <a:r>
              <a:rPr sz="1800">
                <a:solidFill>
                  <a:srgbClr val="0A0A0A"/>
                </a:solidFill>
                <a:latin typeface="Calibri"/>
              </a:rPr>
              <a:t>To assign each property a unique on-chain token identifier, making it cryptographically impossible to register the same plot twice under different ownership records.</a:t>
            </a:r>
          </a:p>
          <a:p>
            <a:pPr algn="l">
              <a:spcBef>
                <a:spcPts val="1400"/>
              </a:spcBef>
            </a:pPr>
            <a:r>
              <a:rPr sz="1200" b="0" i="0">
                <a:solidFill>
                  <a:srgbClr val="0A0A0A"/>
                </a:solidFill>
                <a:latin typeface="Calibri"/>
              </a:rPr>
              <a:t/>
            </a:r>
          </a:p>
          <a:p>
            <a:pPr>
              <a:spcBef>
                <a:spcPts val="0"/>
              </a:spcBef>
            </a:pPr>
            <a:r>
              <a:rPr sz="2000" b="1">
                <a:solidFill>
                  <a:srgbClr val="1A6B55"/>
                </a:solidFill>
                <a:latin typeface="Calibri"/>
              </a:rPr>
              <a:t>✔  Objective 3 — Public Verification Portal</a:t>
            </a:r>
          </a:p>
          <a:p>
            <a:pPr marL="320040">
              <a:spcBef>
                <a:spcPts val="400"/>
              </a:spcBef>
            </a:pPr>
            <a:r>
              <a:rPr sz="1800">
                <a:solidFill>
                  <a:srgbClr val="0A0A0A"/>
                </a:solidFill>
                <a:latin typeface="Calibri"/>
              </a:rPr>
              <a:t>To expose a public verification portal where any citizen can instantly confirm property ownership by plot number, deed number, or National ID — without requiring a registered account or government inquiry.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1A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0"/>
            <a:ext cx="120060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BlockLand: Blockchain-Based Land Registry System for Zimbabwe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74320"/>
            <a:ext cx="12188952" cy="1005840"/>
          </a:xfrm>
          <a:prstGeom prst="rect">
            <a:avLst/>
          </a:prstGeom>
          <a:solidFill>
            <a:srgbClr val="0D1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11731752" cy="9692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Calibri Light"/>
              </a:rPr>
              <a:t>Related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4114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6583680" cy="502920"/>
          </a:xfrm>
          <a:prstGeom prst="rect">
            <a:avLst/>
          </a:prstGeom>
          <a:solidFill>
            <a:srgbClr val="0D1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6355080"/>
            <a:ext cx="5148072" cy="502920"/>
          </a:xfrm>
          <a:prstGeom prst="rect">
            <a:avLst/>
          </a:prstGeom>
          <a:solidFill>
            <a:srgbClr val="1A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31752" y="6355080"/>
            <a:ext cx="45720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6428232"/>
            <a:ext cx="6400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DEPARTMENT OF INFORMATION SECURITY AND ASSURANCE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6428232"/>
            <a:ext cx="4937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HARARE INSTITUTE OF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0040" y="6409944"/>
            <a:ext cx="402336" cy="3931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 i="0">
                <a:solidFill>
                  <a:srgbClr val="0D1741"/>
                </a:solidFill>
                <a:latin typeface="Calibr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5257800"/>
            <a:ext cx="100584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200" b="1" i="0">
                <a:solidFill>
                  <a:srgbClr val="0D1741"/>
                </a:solidFill>
                <a:latin typeface="Calibri"/>
              </a:rPr>
              <a:t>HIT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5577840"/>
            <a:ext cx="150876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700" b="0" i="0">
                <a:solidFill>
                  <a:srgbClr val="0D1741"/>
                </a:solidFill>
                <a:latin typeface="Calibri"/>
              </a:rPr>
              <a:t>Harare Institute
of Technology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1417320"/>
            <a:ext cx="9875520" cy="4754880"/>
          </a:xfrm>
          <a:prstGeom prst="rect">
            <a:avLst/>
          </a:prstGeom>
          <a:noFill/>
        </p:spPr>
        <p:txBody>
          <a:bodyPr wrap="square" lIns="45720" rIns="45720" tIns="73152" bIns="73152">
            <a:spAutoFit/>
          </a:bodyPr>
          <a:lstStyle/>
          <a:p>
            <a:pPr>
              <a:spcBef>
                <a:spcPts val="200"/>
              </a:spcBef>
            </a:pPr>
            <a:r>
              <a:rPr sz="1800" b="1">
                <a:solidFill>
                  <a:srgbClr val="0D1741"/>
                </a:solidFill>
                <a:latin typeface="Calibri"/>
              </a:rPr>
              <a:t>Kombe et al. (2017):  </a:t>
            </a:r>
            <a:r>
              <a:rPr sz="1800">
                <a:solidFill>
                  <a:srgbClr val="0A0A0A"/>
                </a:solidFill>
                <a:latin typeface="Calibri"/>
              </a:rPr>
              <a:t>First formal model proposing a three-party workflow (seller, buyer, registrar) for blockchain land registration — the pattern BlockLand enforces on-chain.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D1741"/>
                </a:solidFill>
                <a:latin typeface="Calibri"/>
              </a:rPr>
              <a:t>Alam et al. (2022):  </a:t>
            </a:r>
            <a:r>
              <a:rPr sz="1800">
                <a:solidFill>
                  <a:srgbClr val="0A0A0A"/>
                </a:solidFill>
                <a:latin typeface="Calibri"/>
              </a:rPr>
              <a:t>Ethereum-based land title system for Bangladesh. Demonstrated feasibility but highlighted gas cost as a prohibitive barrier — absent on Stacks.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D1741"/>
                </a:solidFill>
                <a:latin typeface="Calibri"/>
              </a:rPr>
              <a:t>M. Zein &amp; Twinomurinzi (2023):  </a:t>
            </a:r>
            <a:r>
              <a:rPr sz="1800">
                <a:solidFill>
                  <a:srgbClr val="0A0A0A"/>
                </a:solidFill>
                <a:latin typeface="Calibri"/>
              </a:rPr>
              <a:t>Systematic review of 47 papers — fewer than a third provided any formal threat modelling. Identified security analysis as the key gap in the literature.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D1741"/>
                </a:solidFill>
                <a:latin typeface="Calibri"/>
              </a:rPr>
              <a:t>Mansoor et al. (2023):  </a:t>
            </a:r>
            <a:r>
              <a:rPr sz="1800">
                <a:solidFill>
                  <a:srgbClr val="0A0A0A"/>
                </a:solidFill>
                <a:latin typeface="Calibri"/>
              </a:rPr>
              <a:t>Recommended hybrid architectures (blockchain + relational database) as the most practically deployable approach for developing economy contexts.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D1741"/>
                </a:solidFill>
                <a:latin typeface="Calibri"/>
              </a:rPr>
              <a:t>Paavo et al. (2025):  </a:t>
            </a:r>
            <a:r>
              <a:rPr sz="1800">
                <a:solidFill>
                  <a:srgbClr val="0A0A0A"/>
                </a:solidFill>
                <a:latin typeface="Calibri"/>
              </a:rPr>
              <a:t>Namibian pilot study — identified registrar workflow integration as the binding success factor, directly motivating BlockLand's registrar finalisation step.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0D1741"/>
                </a:solidFill>
                <a:latin typeface="Calibri"/>
              </a:rPr>
              <a:t>Konashevych (2020):  </a:t>
            </a:r>
            <a:r>
              <a:rPr sz="1800">
                <a:solidFill>
                  <a:srgbClr val="0A0A0A"/>
                </a:solidFill>
                <a:latin typeface="Calibri"/>
              </a:rPr>
              <a:t>Identified the oracle problem — gap between on-chain digital state and physical reality — as the most fundamental limitation of blockchain in land administration.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1A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0"/>
            <a:ext cx="120060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BlockLand: Blockchain-Based Land Registry System for Zimbabwe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74320"/>
            <a:ext cx="12188952" cy="1005840"/>
          </a:xfrm>
          <a:prstGeom prst="rect">
            <a:avLst/>
          </a:prstGeom>
          <a:solidFill>
            <a:srgbClr val="0D1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11731752" cy="9692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Calibri Light"/>
              </a:rPr>
              <a:t>Proposed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4114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6583680" cy="502920"/>
          </a:xfrm>
          <a:prstGeom prst="rect">
            <a:avLst/>
          </a:prstGeom>
          <a:solidFill>
            <a:srgbClr val="0D1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6355080"/>
            <a:ext cx="5148072" cy="502920"/>
          </a:xfrm>
          <a:prstGeom prst="rect">
            <a:avLst/>
          </a:prstGeom>
          <a:solidFill>
            <a:srgbClr val="1A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31752" y="6355080"/>
            <a:ext cx="45720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6428232"/>
            <a:ext cx="6400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DEPARTMENT OF INFORMATION SECURITY AND ASSURANCE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6428232"/>
            <a:ext cx="4937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HARARE INSTITUTE OF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0040" y="6409944"/>
            <a:ext cx="402336" cy="3931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 i="0">
                <a:solidFill>
                  <a:srgbClr val="0D1741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5257800"/>
            <a:ext cx="100584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200" b="1" i="0">
                <a:solidFill>
                  <a:srgbClr val="0D1741"/>
                </a:solidFill>
                <a:latin typeface="Calibri"/>
              </a:rPr>
              <a:t>HIT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5577840"/>
            <a:ext cx="150876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700" b="0" i="0">
                <a:solidFill>
                  <a:srgbClr val="0D1741"/>
                </a:solidFill>
                <a:latin typeface="Calibri"/>
              </a:rPr>
              <a:t>Harare Institute
of Technology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1444752"/>
            <a:ext cx="5303520" cy="4754880"/>
          </a:xfrm>
          <a:prstGeom prst="rect">
            <a:avLst/>
          </a:prstGeom>
          <a:noFill/>
        </p:spPr>
        <p:txBody>
          <a:bodyPr wrap="square" lIns="45720" rIns="45720" tIns="73152" bIns="73152">
            <a:spAutoFit/>
          </a:bodyPr>
          <a:lstStyle/>
          <a:p>
            <a:r>
              <a:rPr sz="2000" b="1">
                <a:solidFill>
                  <a:srgbClr val="0D1741"/>
                </a:solidFill>
                <a:latin typeface="Calibri"/>
              </a:rPr>
              <a:t>Three-Tier Architecture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6B55"/>
                </a:solidFill>
                <a:latin typeface="Calibri"/>
              </a:rPr>
              <a:t>▶  Presentation: </a:t>
            </a:r>
            <a:r>
              <a:rPr sz="1800">
                <a:solidFill>
                  <a:srgbClr val="0A0A0A"/>
                </a:solidFill>
                <a:latin typeface="Calibri"/>
              </a:rPr>
              <a:t>Next.js 14 — Role-specific dashboards, Hiro Wallet integration, public /verify portal.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6B55"/>
                </a:solidFill>
                <a:latin typeface="Calibri"/>
              </a:rPr>
              <a:t>▶  Application: </a:t>
            </a:r>
            <a:r>
              <a:rPr sz="1800">
                <a:solidFill>
                  <a:srgbClr val="0A0A0A"/>
                </a:solidFill>
                <a:latin typeface="Calibri"/>
              </a:rPr>
              <a:t>NestJS 10 REST API — JWT RS256 auth, RBAC guards, BlockchainService adapter.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1A6B55"/>
                </a:solidFill>
                <a:latin typeface="Calibri"/>
              </a:rPr>
              <a:t>▶  Persistence: </a:t>
            </a:r>
            <a:r>
              <a:rPr sz="1800">
                <a:solidFill>
                  <a:srgbClr val="0A0A0A"/>
                </a:solidFill>
                <a:latin typeface="Calibri"/>
              </a:rPr>
              <a:t>PostgreSQL — operational metadata.  Stacks Blockchain — immutable ownership ground truth via Clarity smart contract.</a:t>
            </a:r>
          </a:p>
          <a:p>
            <a:pPr algn="l">
              <a:spcBef>
                <a:spcPts val="1800"/>
              </a:spcBef>
            </a:pPr>
            <a:r>
              <a:rPr sz="2000" b="1" i="0">
                <a:solidFill>
                  <a:srgbClr val="0D1741"/>
                </a:solidFill>
                <a:latin typeface="Calibri"/>
              </a:rPr>
              <a:t>Dual-Ledger Invariant</a:t>
            </a:r>
          </a:p>
          <a:p>
            <a:pPr algn="l">
              <a:spcBef>
                <a:spcPts val="600"/>
              </a:spcBef>
            </a:pPr>
            <a:r>
              <a:rPr sz="1700" b="0" i="0">
                <a:solidFill>
                  <a:srgbClr val="0A0A0A"/>
                </a:solidFill>
                <a:latin typeface="Calibri"/>
              </a:rPr>
              <a:t>Blockchain = canonical ownership ground truth.  PostgreSQL = queryable operational cache.  If the two ever diverge, the blockchain record takes precedence.</a:t>
            </a:r>
          </a:p>
          <a:p>
            <a:pPr algn="l">
              <a:spcBef>
                <a:spcPts val="1400"/>
              </a:spcBef>
            </a:pPr>
            <a:r>
              <a:rPr sz="2000" b="1" i="0">
                <a:solidFill>
                  <a:srgbClr val="0D1741"/>
                </a:solidFill>
                <a:latin typeface="Calibri"/>
              </a:rPr>
              <a:t>IPFS Document Anchoring</a:t>
            </a:r>
          </a:p>
          <a:p>
            <a:pPr algn="l">
              <a:spcBef>
                <a:spcPts val="600"/>
              </a:spcBef>
            </a:pPr>
            <a:r>
              <a:rPr sz="1700" b="0" i="0">
                <a:solidFill>
                  <a:srgbClr val="0A0A0A"/>
                </a:solidFill>
                <a:latin typeface="Calibri"/>
              </a:rPr>
              <a:t>Title deed documents stored on IPFS. Content hash committed on-chain — any document substitution is cryptographically detectable.</a:t>
            </a:r>
          </a:p>
        </p:txBody>
      </p:sp>
      <p:pic>
        <p:nvPicPr>
          <p:cNvPr id="16" name="Picture 15" descr="06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44752"/>
            <a:ext cx="60350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1A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0"/>
            <a:ext cx="120060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BlockLand: Blockchain-Based Land Registry System for Zimbabwe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74320"/>
            <a:ext cx="12188952" cy="1005840"/>
          </a:xfrm>
          <a:prstGeom prst="rect">
            <a:avLst/>
          </a:prstGeom>
          <a:solidFill>
            <a:srgbClr val="0D1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11731752" cy="9692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Calibri Light"/>
              </a:rPr>
              <a:t>System Design &amp; Smart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4114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6583680" cy="502920"/>
          </a:xfrm>
          <a:prstGeom prst="rect">
            <a:avLst/>
          </a:prstGeom>
          <a:solidFill>
            <a:srgbClr val="0D1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6355080"/>
            <a:ext cx="5148072" cy="502920"/>
          </a:xfrm>
          <a:prstGeom prst="rect">
            <a:avLst/>
          </a:prstGeom>
          <a:solidFill>
            <a:srgbClr val="1A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31752" y="6355080"/>
            <a:ext cx="45720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6428232"/>
            <a:ext cx="6400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DEPARTMENT OF INFORMATION SECURITY AND ASSURANCE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6428232"/>
            <a:ext cx="4937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HARARE INSTITUTE OF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0040" y="6409944"/>
            <a:ext cx="402336" cy="3931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 i="0">
                <a:solidFill>
                  <a:srgbClr val="0D1741"/>
                </a:solidFill>
                <a:latin typeface="Calibri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5257800"/>
            <a:ext cx="100584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200" b="1" i="0">
                <a:solidFill>
                  <a:srgbClr val="0D1741"/>
                </a:solidFill>
                <a:latin typeface="Calibri"/>
              </a:rPr>
              <a:t>HIT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5577840"/>
            <a:ext cx="150876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700" b="0" i="0">
                <a:solidFill>
                  <a:srgbClr val="0D1741"/>
                </a:solidFill>
                <a:latin typeface="Calibri"/>
              </a:rPr>
              <a:t>Harare Institute
of Technology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1444752"/>
            <a:ext cx="5486400" cy="4754880"/>
          </a:xfrm>
          <a:prstGeom prst="rect">
            <a:avLst/>
          </a:prstGeom>
          <a:noFill/>
        </p:spPr>
        <p:txBody>
          <a:bodyPr wrap="square" lIns="45720" rIns="45720" tIns="73152" bIns="73152">
            <a:spAutoFit/>
          </a:bodyPr>
          <a:lstStyle/>
          <a:p>
            <a:r>
              <a:rPr sz="2000" b="1">
                <a:solidFill>
                  <a:srgbClr val="0D1741"/>
                </a:solidFill>
                <a:latin typeface="Calibri"/>
              </a:rPr>
              <a:t>blockland.clar — On-Chain Data Maps</a:t>
            </a:r>
          </a:p>
          <a:p>
            <a:pPr>
              <a:spcBef>
                <a:spcPts val="900"/>
              </a:spcBef>
            </a:pPr>
            <a:r>
              <a:rPr sz="1500" b="1">
                <a:solidFill>
                  <a:srgbClr val="1A6B55"/>
                </a:solidFill>
                <a:latin typeface="Courier New"/>
              </a:rPr>
              <a:t>  property-registry</a:t>
            </a:r>
            <a:r>
              <a:rPr sz="1300">
                <a:solidFill>
                  <a:srgbClr val="0A0A0A"/>
                </a:solidFill>
                <a:latin typeface="Courier New"/>
              </a:rPr>
              <a:t>
     uint → {owner, title-deed-hash, status, ipfs-hash}</a:t>
            </a:r>
          </a:p>
          <a:p>
            <a:pPr>
              <a:spcBef>
                <a:spcPts val="900"/>
              </a:spcBef>
            </a:pPr>
            <a:r>
              <a:rPr sz="1500" b="1">
                <a:solidFill>
                  <a:srgbClr val="1A6B55"/>
                </a:solidFill>
                <a:latin typeface="Courier New"/>
              </a:rPr>
              <a:t>  title-deed-index</a:t>
            </a:r>
            <a:r>
              <a:rPr sz="1300">
                <a:solidFill>
                  <a:srgbClr val="0A0A0A"/>
                </a:solidFill>
                <a:latin typeface="Courier New"/>
              </a:rPr>
              <a:t>
     (buff 32) → uint   [fraud prevention reverse lookup]</a:t>
            </a:r>
          </a:p>
          <a:p>
            <a:pPr>
              <a:spcBef>
                <a:spcPts val="900"/>
              </a:spcBef>
            </a:pPr>
            <a:r>
              <a:rPr sz="1500" b="1">
                <a:solidFill>
                  <a:srgbClr val="1A6B55"/>
                </a:solidFill>
                <a:latin typeface="Courier New"/>
              </a:rPr>
              <a:t>  transfer-requests</a:t>
            </a:r>
            <a:r>
              <a:rPr sz="1300">
                <a:solidFill>
                  <a:srgbClr val="0A0A0A"/>
                </a:solidFill>
                <a:latin typeface="Courier New"/>
              </a:rPr>
              <a:t>
     uint → {seller, buyer, buyer-approved, registrar-approved}</a:t>
            </a:r>
          </a:p>
          <a:p>
            <a:pPr>
              <a:spcBef>
                <a:spcPts val="900"/>
              </a:spcBef>
            </a:pPr>
            <a:r>
              <a:rPr sz="1500" b="1">
                <a:solidFill>
                  <a:srgbClr val="1A6B55"/>
                </a:solidFill>
                <a:latin typeface="Courier New"/>
              </a:rPr>
              <a:t>  ownership-history</a:t>
            </a:r>
            <a:r>
              <a:rPr sz="1300">
                <a:solidFill>
                  <a:srgbClr val="0A0A0A"/>
                </a:solidFill>
                <a:latin typeface="Courier New"/>
              </a:rPr>
              <a:t>
     {property-id, seq} → {owner, acquired-at}</a:t>
            </a:r>
          </a:p>
          <a:p>
            <a:pPr>
              <a:spcBef>
                <a:spcPts val="900"/>
              </a:spcBef>
            </a:pPr>
            <a:r>
              <a:rPr sz="1500" b="1">
                <a:solidFill>
                  <a:srgbClr val="1A6B55"/>
                </a:solidFill>
                <a:latin typeface="Courier New"/>
              </a:rPr>
              <a:t>  authorized-registrars</a:t>
            </a:r>
            <a:r>
              <a:rPr sz="1300">
                <a:solidFill>
                  <a:srgbClr val="0A0A0A"/>
                </a:solidFill>
                <a:latin typeface="Courier New"/>
              </a:rPr>
              <a:t>
     principal → bool   [registrar whitelist]</a:t>
            </a:r>
          </a:p>
          <a:p>
            <a:pPr algn="l">
              <a:spcBef>
                <a:spcPts val="1600"/>
              </a:spcBef>
            </a:pPr>
            <a:r>
              <a:rPr sz="2000" b="1" i="0">
                <a:solidFill>
                  <a:srgbClr val="0D1741"/>
                </a:solidFill>
                <a:latin typeface="Calibri"/>
              </a:rPr>
              <a:t>Three-Step Transfer Workflow</a:t>
            </a:r>
          </a:p>
          <a:p>
            <a:pPr>
              <a:spcBef>
                <a:spcPts val="700"/>
              </a:spcBef>
            </a:pPr>
            <a:r>
              <a:rPr sz="1700" b="1">
                <a:solidFill>
                  <a:srgbClr val="B8860B"/>
                </a:solidFill>
                <a:latin typeface="Calibri"/>
              </a:rPr>
              <a:t>✔  Step 1 — Owner: </a:t>
            </a:r>
            <a:r>
              <a:rPr sz="1700">
                <a:solidFill>
                  <a:srgbClr val="0A0A0A"/>
                </a:solidFill>
                <a:latin typeface="Calibri"/>
              </a:rPr>
              <a:t>Calls initiate-transfer — property locked to "pending-transfer"</a:t>
            </a:r>
          </a:p>
          <a:p>
            <a:pPr>
              <a:spcBef>
                <a:spcPts val="700"/>
              </a:spcBef>
            </a:pPr>
            <a:r>
              <a:rPr sz="1700" b="1">
                <a:solidFill>
                  <a:srgbClr val="B8860B"/>
                </a:solidFill>
                <a:latin typeface="Calibri"/>
              </a:rPr>
              <a:t>✔  Step 2 — Buyer: </a:t>
            </a:r>
            <a:r>
              <a:rPr sz="1700">
                <a:solidFill>
                  <a:srgbClr val="0A0A0A"/>
                </a:solidFill>
                <a:latin typeface="Calibri"/>
              </a:rPr>
              <a:t>Calls buyer-approve-transfer — sets buyer-approved = true</a:t>
            </a:r>
          </a:p>
          <a:p>
            <a:pPr>
              <a:spcBef>
                <a:spcPts val="700"/>
              </a:spcBef>
            </a:pPr>
            <a:r>
              <a:rPr sz="1700" b="1">
                <a:solidFill>
                  <a:srgbClr val="B8860B"/>
                </a:solidFill>
                <a:latin typeface="Calibri"/>
              </a:rPr>
              <a:t>✔  Step 3 — Registrar: </a:t>
            </a:r>
            <a:r>
              <a:rPr sz="1700">
                <a:solidFill>
                  <a:srgbClr val="0A0A0A"/>
                </a:solidFill>
                <a:latin typeface="Calibri"/>
              </a:rPr>
              <a:t>Calls registrar-finalize-transfer — ownership atomically reassigned</a:t>
            </a:r>
          </a:p>
        </p:txBody>
      </p:sp>
      <p:pic>
        <p:nvPicPr>
          <p:cNvPr id="16" name="Picture 15" descr="07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444752"/>
            <a:ext cx="58978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1A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0"/>
            <a:ext cx="120060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BlockLand: Blockchain-Based Land Registry System for Zimbabwe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74320"/>
            <a:ext cx="12188952" cy="1005840"/>
          </a:xfrm>
          <a:prstGeom prst="rect">
            <a:avLst/>
          </a:prstGeom>
          <a:solidFill>
            <a:srgbClr val="0D1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11731752" cy="9692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Calibri Light"/>
              </a:rPr>
              <a:t>Security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4114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6583680" cy="502920"/>
          </a:xfrm>
          <a:prstGeom prst="rect">
            <a:avLst/>
          </a:prstGeom>
          <a:solidFill>
            <a:srgbClr val="0D1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6355080"/>
            <a:ext cx="5148072" cy="502920"/>
          </a:xfrm>
          <a:prstGeom prst="rect">
            <a:avLst/>
          </a:prstGeom>
          <a:solidFill>
            <a:srgbClr val="1A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31752" y="6355080"/>
            <a:ext cx="45720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6428232"/>
            <a:ext cx="6400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DEPARTMENT OF INFORMATION SECURITY AND ASSURANCE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6428232"/>
            <a:ext cx="4937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HARARE INSTITUTE OF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0040" y="6409944"/>
            <a:ext cx="402336" cy="3931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 i="0">
                <a:solidFill>
                  <a:srgbClr val="0D1741"/>
                </a:solidFill>
                <a:latin typeface="Calibri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5257800"/>
            <a:ext cx="100584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200" b="1" i="0">
                <a:solidFill>
                  <a:srgbClr val="0D1741"/>
                </a:solidFill>
                <a:latin typeface="Calibri"/>
              </a:rPr>
              <a:t>HIT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5577840"/>
            <a:ext cx="150876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700" b="0" i="0">
                <a:solidFill>
                  <a:srgbClr val="0D1741"/>
                </a:solidFill>
                <a:latin typeface="Calibri"/>
              </a:rPr>
              <a:t>Harare Institute
of Technology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1417320"/>
            <a:ext cx="9875520" cy="4754880"/>
          </a:xfrm>
          <a:prstGeom prst="rect">
            <a:avLst/>
          </a:prstGeom>
          <a:noFill/>
        </p:spPr>
        <p:txBody>
          <a:bodyPr wrap="square" lIns="45720" rIns="45720" tIns="73152" bIns="73152">
            <a:spAutoFit/>
          </a:bodyPr>
          <a:lstStyle/>
          <a:p>
            <a:r>
              <a:rPr sz="2100" b="1">
                <a:solidFill>
                  <a:srgbClr val="0D1741"/>
                </a:solidFill>
                <a:latin typeface="Calibri"/>
              </a:rPr>
              <a:t>STRIDE Threat Model — Applied to BlockLand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A6B55"/>
                </a:solidFill>
                <a:latin typeface="Calibri"/>
              </a:rPr>
              <a:t>S — Spoofing:  </a:t>
            </a:r>
            <a:r>
              <a:rPr sz="1800">
                <a:solidFill>
                  <a:srgbClr val="0A0A0A"/>
                </a:solidFill>
                <a:latin typeface="Calibri"/>
              </a:rPr>
              <a:t>JWT RS256 asymmetric signing + on-chain registrar whitelist prevent identity impersonation.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A6B55"/>
                </a:solidFill>
                <a:latin typeface="Calibri"/>
              </a:rPr>
              <a:t>T — Tampering:  </a:t>
            </a:r>
            <a:r>
              <a:rPr sz="1800">
                <a:solidFill>
                  <a:srgbClr val="0A0A0A"/>
                </a:solidFill>
                <a:latin typeface="Calibri"/>
              </a:rPr>
              <a:t>Blockchain is canonical — DB inconsistency detectable by querying contract state. IPFS hash prevents document substitution.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A6B55"/>
                </a:solidFill>
                <a:latin typeface="Calibri"/>
              </a:rPr>
              <a:t>R — Repudiation:  </a:t>
            </a:r>
            <a:r>
              <a:rPr sz="1800">
                <a:solidFill>
                  <a:srgbClr val="0A0A0A"/>
                </a:solidFill>
                <a:latin typeface="Calibri"/>
              </a:rPr>
              <a:t>Every transfer step is a signed Stacks transaction — immutable on-chain record with block height timestamp.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A6B55"/>
                </a:solidFill>
                <a:latin typeface="Calibri"/>
              </a:rPr>
              <a:t>I — Information Disclosure:  </a:t>
            </a:r>
            <a:r>
              <a:rPr sz="1800">
                <a:solidFill>
                  <a:srgbClr val="0A0A0A"/>
                </a:solidFill>
                <a:latin typeface="Calibri"/>
              </a:rPr>
              <a:t>JWT-gated API; RBAC restricts financial data to parties in each transaction.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A6B55"/>
                </a:solidFill>
                <a:latin typeface="Calibri"/>
              </a:rPr>
              <a:t>D — Denial of Service:  </a:t>
            </a:r>
            <a:r>
              <a:rPr sz="1800">
                <a:solidFill>
                  <a:srgbClr val="0A0A0A"/>
                </a:solidFill>
                <a:latin typeface="Calibri"/>
              </a:rPr>
              <a:t>Rate limiting at API gateway; blockchain operates independently of API availability.</a:t>
            </a:r>
          </a:p>
          <a:p>
            <a:pPr>
              <a:spcBef>
                <a:spcPts val="900"/>
              </a:spcBef>
            </a:pPr>
            <a:r>
              <a:rPr sz="1800" b="1">
                <a:solidFill>
                  <a:srgbClr val="1A6B55"/>
                </a:solidFill>
                <a:latin typeface="Calibri"/>
              </a:rPr>
              <a:t>E — Elevation of Privilege:  </a:t>
            </a:r>
            <a:r>
              <a:rPr sz="1800">
                <a:solidFill>
                  <a:srgbClr val="0A0A0A"/>
                </a:solidFill>
                <a:latin typeface="Calibri"/>
              </a:rPr>
              <a:t>Dual-layer enforcement — NestJS RolesGuard AND Clarity contract tx-sender check. Both must be bypassed simultaneously for escalation to succeed.</a:t>
            </a:r>
          </a:p>
          <a:p>
            <a:pPr algn="l">
              <a:spcBef>
                <a:spcPts val="1400"/>
              </a:spcBef>
            </a:pPr>
            <a:r>
              <a:rPr sz="1700" b="0" i="1">
                <a:solidFill>
                  <a:srgbClr val="0D1741"/>
                </a:solidFill>
                <a:latin typeface="Calibri"/>
              </a:rPr>
              <a:t>Clarity language eliminates reentrancy and unbounded-loop vulnerabilities by design — all execution paths are statically analysable before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1A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0"/>
            <a:ext cx="120060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BlockLand: Blockchain-Based Land Registry System for Zimbabwe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74320"/>
            <a:ext cx="12188952" cy="1005840"/>
          </a:xfrm>
          <a:prstGeom prst="rect">
            <a:avLst/>
          </a:prstGeom>
          <a:solidFill>
            <a:srgbClr val="0D1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11731752" cy="9692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Calibri Light"/>
              </a:rPr>
              <a:t>Results &amp;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4114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6583680" cy="502920"/>
          </a:xfrm>
          <a:prstGeom prst="rect">
            <a:avLst/>
          </a:prstGeom>
          <a:solidFill>
            <a:srgbClr val="0D1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6355080"/>
            <a:ext cx="5148072" cy="502920"/>
          </a:xfrm>
          <a:prstGeom prst="rect">
            <a:avLst/>
          </a:prstGeom>
          <a:solidFill>
            <a:srgbClr val="1A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31752" y="6355080"/>
            <a:ext cx="45720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6428232"/>
            <a:ext cx="6400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DEPARTMENT OF INFORMATION SECURITY AND ASSURANCE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6428232"/>
            <a:ext cx="4937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HARARE INSTITUTE OF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0040" y="6409944"/>
            <a:ext cx="402336" cy="3931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 i="0">
                <a:solidFill>
                  <a:srgbClr val="0D1741"/>
                </a:solidFill>
                <a:latin typeface="Calibri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5257800"/>
            <a:ext cx="100584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200" b="1" i="0">
                <a:solidFill>
                  <a:srgbClr val="0D1741"/>
                </a:solidFill>
                <a:latin typeface="Calibri"/>
              </a:rPr>
              <a:t>HIT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5577840"/>
            <a:ext cx="150876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700" b="0" i="0">
                <a:solidFill>
                  <a:srgbClr val="0D1741"/>
                </a:solidFill>
                <a:latin typeface="Calibri"/>
              </a:rPr>
              <a:t>Harare Institute
of Technology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1444752"/>
            <a:ext cx="5669280" cy="4754880"/>
          </a:xfrm>
          <a:prstGeom prst="rect">
            <a:avLst/>
          </a:prstGeom>
          <a:noFill/>
        </p:spPr>
        <p:txBody>
          <a:bodyPr wrap="square" lIns="45720" rIns="45720" tIns="73152" bIns="73152">
            <a:spAutoFit/>
          </a:bodyPr>
          <a:lstStyle/>
          <a:p>
            <a:r>
              <a:rPr sz="2000" b="1">
                <a:solidFill>
                  <a:srgbClr val="0D1741"/>
                </a:solidFill>
                <a:latin typeface="Calibri"/>
              </a:rPr>
              <a:t>Adversarial Security Tests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0A0A0A"/>
                </a:solidFill>
                <a:latin typeface="Calibri"/>
              </a:rPr>
              <a:t>•  JWT replay after 15-min expiry  </a:t>
            </a:r>
            <a:r>
              <a:rPr sz="1700" b="1">
                <a:solidFill>
                  <a:srgbClr val="156E30"/>
                </a:solidFill>
                <a:latin typeface="Calibri"/>
              </a:rPr>
              <a:t>PASS — 401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0A0A0A"/>
                </a:solidFill>
                <a:latin typeface="Calibri"/>
              </a:rPr>
              <a:t>•  JWT HS256 downgrade forgery  </a:t>
            </a:r>
            <a:r>
              <a:rPr sz="1700" b="1">
                <a:solidFill>
                  <a:srgbClr val="156E30"/>
                </a:solidFill>
                <a:latin typeface="Calibri"/>
              </a:rPr>
              <a:t>PASS — 401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0A0A0A"/>
                </a:solidFill>
                <a:latin typeface="Calibri"/>
              </a:rPr>
              <a:t>•  Horizontal privilege escalation  </a:t>
            </a:r>
            <a:r>
              <a:rPr sz="1700" b="1">
                <a:solidFill>
                  <a:srgbClr val="156E30"/>
                </a:solidFill>
                <a:latin typeface="Calibri"/>
              </a:rPr>
              <a:t>PASS — 403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0A0A0A"/>
                </a:solidFill>
                <a:latin typeface="Calibri"/>
              </a:rPr>
              <a:t>•  Double-transfer same plot  </a:t>
            </a:r>
            <a:r>
              <a:rPr sz="1700" b="1">
                <a:solidFill>
                  <a:srgbClr val="156E30"/>
                </a:solidFill>
                <a:latin typeface="Calibri"/>
              </a:rPr>
              <a:t>PASS — err u106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0A0A0A"/>
                </a:solidFill>
                <a:latin typeface="Calibri"/>
              </a:rPr>
              <a:t>•  Direct contract call (non-registrar)  </a:t>
            </a:r>
            <a:r>
              <a:rPr sz="1700" b="1">
                <a:solidFill>
                  <a:srgbClr val="156E30"/>
                </a:solidFill>
                <a:latin typeface="Calibri"/>
              </a:rPr>
              <a:t>PASS — err u101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0A0A0A"/>
                </a:solidFill>
                <a:latin typeface="Calibri"/>
              </a:rPr>
              <a:t>•  IPFS hash substitution via contract  </a:t>
            </a:r>
            <a:r>
              <a:rPr sz="1700" b="1">
                <a:solidFill>
                  <a:srgbClr val="156E30"/>
                </a:solidFill>
                <a:latin typeface="Calibri"/>
              </a:rPr>
              <a:t>PASS — err u101</a:t>
            </a:r>
          </a:p>
          <a:p>
            <a:pPr algn="l">
              <a:spcBef>
                <a:spcPts val="1600"/>
              </a:spcBef>
            </a:pPr>
            <a:r>
              <a:rPr sz="2000" b="1" i="0">
                <a:solidFill>
                  <a:srgbClr val="0D1741"/>
                </a:solidFill>
                <a:latin typeface="Calibri"/>
              </a:rPr>
              <a:t>Functional Requirements</a:t>
            </a:r>
          </a:p>
          <a:p>
            <a:pPr algn="l">
              <a:spcBef>
                <a:spcPts val="600"/>
              </a:spcBef>
            </a:pPr>
            <a:r>
              <a:rPr sz="1700" b="0" i="0">
                <a:solidFill>
                  <a:srgbClr val="0A0A0A"/>
                </a:solidFill>
                <a:latin typeface="Calibri"/>
              </a:rPr>
              <a:t>All 7 FRs derived from the Deeds Registries Act verified via Clarinet unit tests and adversarial integration testing.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444752"/>
            <a:ext cx="5760720" cy="4754880"/>
          </a:xfrm>
          <a:prstGeom prst="rect">
            <a:avLst/>
          </a:prstGeom>
          <a:noFill/>
        </p:spPr>
        <p:txBody>
          <a:bodyPr wrap="square" lIns="45720" rIns="45720" tIns="73152" bIns="73152">
            <a:spAutoFit/>
          </a:bodyPr>
          <a:lstStyle/>
          <a:p>
            <a:r>
              <a:rPr sz="2000" b="1">
                <a:solidFill>
                  <a:srgbClr val="0D1741"/>
                </a:solidFill>
                <a:latin typeface="Calibri"/>
              </a:rPr>
              <a:t>Performance Metrics  (50 concurrent users)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0A0A0A"/>
                </a:solidFill>
                <a:latin typeface="Calibri"/>
              </a:rPr>
              <a:t>GET /properties: </a:t>
            </a:r>
            <a:r>
              <a:rPr sz="1900" b="1">
                <a:solidFill>
                  <a:srgbClr val="1A6B55"/>
                </a:solidFill>
                <a:latin typeface="Calibri"/>
              </a:rPr>
              <a:t>p95 = 45 ms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0A0A0A"/>
                </a:solidFill>
                <a:latin typeface="Calibri"/>
              </a:rPr>
              <a:t>Public /verify portal: </a:t>
            </a:r>
            <a:r>
              <a:rPr sz="1900" b="1">
                <a:solidFill>
                  <a:srgbClr val="1A6B55"/>
                </a:solidFill>
                <a:latin typeface="Calibri"/>
              </a:rPr>
              <a:t>p95 = 28 ms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0A0A0A"/>
                </a:solidFill>
                <a:latin typeface="Calibri"/>
              </a:rPr>
              <a:t>POST /properties: </a:t>
            </a:r>
            <a:r>
              <a:rPr sz="1900" b="1">
                <a:solidFill>
                  <a:srgbClr val="1A6B55"/>
                </a:solidFill>
                <a:latin typeface="Calibri"/>
              </a:rPr>
              <a:t>p95 = 89 ms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0A0A0A"/>
                </a:solidFill>
                <a:latin typeface="Calibri"/>
              </a:rPr>
              <a:t>Blockchain initiate-tx: </a:t>
            </a:r>
            <a:r>
              <a:rPr sz="1900" b="1">
                <a:solidFill>
                  <a:srgbClr val="1A6B55"/>
                </a:solidFill>
                <a:latin typeface="Calibri"/>
              </a:rPr>
              <a:t>p95 = 2,100 ms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0A0A0A"/>
                </a:solidFill>
                <a:latin typeface="Calibri"/>
              </a:rPr>
              <a:t>End-to-end transfer: </a:t>
            </a:r>
            <a:r>
              <a:rPr sz="1900" b="1">
                <a:solidFill>
                  <a:srgbClr val="1A6B55"/>
                </a:solidFill>
                <a:latin typeface="Calibri"/>
              </a:rPr>
              <a:t>&lt; 30 seconds</a:t>
            </a:r>
          </a:p>
          <a:p>
            <a:pPr algn="l">
              <a:spcBef>
                <a:spcPts val="2000"/>
              </a:spcBef>
            </a:pPr>
            <a:r>
              <a:rPr sz="2000" b="1" i="0">
                <a:solidFill>
                  <a:srgbClr val="0D1741"/>
                </a:solidFill>
                <a:latin typeface="Calibri"/>
              </a:rPr>
              <a:t>Key Findings</a:t>
            </a:r>
          </a:p>
          <a:p>
            <a:pPr algn="l">
              <a:spcBef>
                <a:spcPts val="800"/>
              </a:spcBef>
            </a:pPr>
            <a:r>
              <a:rPr sz="1700" b="0" i="0">
                <a:solidFill>
                  <a:srgbClr val="0A0A0A"/>
                </a:solidFill>
                <a:latin typeface="Calibri"/>
              </a:rPr>
              <a:t>✔  title-deed-index map makes duplicate plot registration cryptographically impossible.</a:t>
            </a:r>
          </a:p>
          <a:p>
            <a:pPr algn="l">
              <a:spcBef>
                <a:spcPts val="800"/>
              </a:spcBef>
            </a:pPr>
            <a:r>
              <a:rPr sz="1700" b="0" i="0">
                <a:solidFill>
                  <a:srgbClr val="0A0A0A"/>
                </a:solidFill>
                <a:latin typeface="Calibri"/>
              </a:rPr>
              <a:t>✔  Clarity's non-Turing-complete design eliminates reentrancy by language specification.</a:t>
            </a:r>
          </a:p>
          <a:p>
            <a:pPr algn="l">
              <a:spcBef>
                <a:spcPts val="800"/>
              </a:spcBef>
            </a:pPr>
            <a:r>
              <a:rPr sz="1700" b="0" i="0">
                <a:solidFill>
                  <a:srgbClr val="0A0A0A"/>
                </a:solidFill>
                <a:latin typeface="Calibri"/>
              </a:rPr>
              <a:t>✔  Three-step workflow confirmed end-to-end on Stacks testnet — no unilateral transfer possible.</a:t>
            </a:r>
          </a:p>
          <a:p>
            <a:pPr algn="l">
              <a:spcBef>
                <a:spcPts val="800"/>
              </a:spcBef>
            </a:pPr>
            <a:r>
              <a:rPr sz="1700" b="0" i="0">
                <a:solidFill>
                  <a:srgbClr val="0A0A0A"/>
                </a:solidFill>
                <a:latin typeface="Calibri"/>
              </a:rPr>
              <a:t>✔  Public /verify portal returns ownership status in &lt; 50 ms with no login required.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1A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0"/>
            <a:ext cx="120060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BlockLand: Blockchain-Based Land Registry System for Zimbabwe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74320"/>
            <a:ext cx="12188952" cy="1005840"/>
          </a:xfrm>
          <a:prstGeom prst="rect">
            <a:avLst/>
          </a:prstGeom>
          <a:solidFill>
            <a:srgbClr val="0D1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11731752" cy="9692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Calibri Light"/>
              </a:rPr>
              <a:t>Conclusion and Future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4114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6583680" cy="502920"/>
          </a:xfrm>
          <a:prstGeom prst="rect">
            <a:avLst/>
          </a:prstGeom>
          <a:solidFill>
            <a:srgbClr val="0D1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6355080"/>
            <a:ext cx="5148072" cy="502920"/>
          </a:xfrm>
          <a:prstGeom prst="rect">
            <a:avLst/>
          </a:prstGeom>
          <a:solidFill>
            <a:srgbClr val="1A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31752" y="6355080"/>
            <a:ext cx="45720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6428232"/>
            <a:ext cx="6400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DEPARTMENT OF INFORMATION SECURITY AND ASSURANCE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6428232"/>
            <a:ext cx="4937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HARARE INSTITUTE OF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0040" y="6409944"/>
            <a:ext cx="402336" cy="3931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 i="0">
                <a:solidFill>
                  <a:srgbClr val="0D1741"/>
                </a:solidFill>
                <a:latin typeface="Calibri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5257800"/>
            <a:ext cx="100584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200" b="1" i="0">
                <a:solidFill>
                  <a:srgbClr val="0D1741"/>
                </a:solidFill>
                <a:latin typeface="Calibri"/>
              </a:rPr>
              <a:t>HIT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5577840"/>
            <a:ext cx="150876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700" b="0" i="0">
                <a:solidFill>
                  <a:srgbClr val="0D1741"/>
                </a:solidFill>
                <a:latin typeface="Calibri"/>
              </a:rPr>
              <a:t>Harare Institute
of Technology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1444752"/>
            <a:ext cx="5669280" cy="4754880"/>
          </a:xfrm>
          <a:prstGeom prst="rect">
            <a:avLst/>
          </a:prstGeom>
          <a:noFill/>
        </p:spPr>
        <p:txBody>
          <a:bodyPr wrap="square" lIns="45720" rIns="45720" tIns="73152" bIns="73152">
            <a:spAutoFit/>
          </a:bodyPr>
          <a:lstStyle/>
          <a:p>
            <a:r>
              <a:rPr sz="2200" b="1">
                <a:solidFill>
                  <a:srgbClr val="0D1741"/>
                </a:solidFill>
                <a:latin typeface="Calibri"/>
              </a:rPr>
              <a:t>Conclusion</a:t>
            </a:r>
          </a:p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0A0A0A"/>
                </a:solidFill>
                <a:latin typeface="Calibri"/>
              </a:rPr>
              <a:t>•  BlockLand demonstrates that targeted blockchain integration — anchoring only ownership assertions on-chain — delivers meaningful security guarantees for Zimbabwe's land administration context.</a:t>
            </a:r>
          </a:p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0A0A0A"/>
                </a:solidFill>
                <a:latin typeface="Calibri"/>
              </a:rPr>
              <a:t>•  The Clarity smart contract enforces the three-party consent model required by the Deeds Registries Act [Chapter 20:05] at the blockchain layer — no application code can bypass it.</a:t>
            </a:r>
          </a:p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0A0A0A"/>
                </a:solidFill>
                <a:latin typeface="Calibri"/>
              </a:rPr>
              <a:t>•  IPFS document hashing and the title-deed-index reverse lookup map prevent document substitution and duplicate plot registration respectively.</a:t>
            </a:r>
          </a:p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0A0A0A"/>
                </a:solidFill>
                <a:latin typeface="Calibri"/>
              </a:rPr>
              <a:t>•  All 7 functional requirements and 6 adversarial security tests verified.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444752"/>
            <a:ext cx="5760720" cy="4754880"/>
          </a:xfrm>
          <a:prstGeom prst="rect">
            <a:avLst/>
          </a:prstGeom>
          <a:noFill/>
        </p:spPr>
        <p:txBody>
          <a:bodyPr wrap="square" lIns="45720" rIns="45720" tIns="73152" bIns="73152">
            <a:spAutoFit/>
          </a:bodyPr>
          <a:lstStyle/>
          <a:p>
            <a:r>
              <a:rPr sz="2200" b="1">
                <a:solidFill>
                  <a:srgbClr val="0D1741"/>
                </a:solidFill>
                <a:latin typeface="Calibri"/>
              </a:rPr>
              <a:t>Future Work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1A6B55"/>
                </a:solidFill>
                <a:latin typeface="Calibri"/>
              </a:rPr>
              <a:t>▶  Client-Side Wallet Signing: </a:t>
            </a:r>
            <a:r>
              <a:rPr sz="1800">
                <a:solidFill>
                  <a:srgbClr val="0A0A0A"/>
                </a:solidFill>
                <a:latin typeface="Calibri"/>
              </a:rPr>
              <a:t>Integrate Hiro Wallet openContractCall() so individual users sign their own blockchain transactions — creating non-repudiable per-user records.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1A6B55"/>
                </a:solidFill>
                <a:latin typeface="Calibri"/>
              </a:rPr>
              <a:t>▶  Stacks Mainnet Deployment: </a:t>
            </a:r>
            <a:r>
              <a:rPr sz="1800">
                <a:solidFill>
                  <a:srgbClr val="0A0A0A"/>
                </a:solidFill>
                <a:latin typeface="Calibri"/>
              </a:rPr>
              <a:t>Deploy to Stacks mainnet, transferring the full Bitcoin security guarantee to the ownership record.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1A6B55"/>
                </a:solidFill>
                <a:latin typeface="Calibri"/>
              </a:rPr>
              <a:t>▶  Zero-Knowledge Identity Proofs: </a:t>
            </a:r>
            <a:r>
              <a:rPr sz="1800">
                <a:solidFill>
                  <a:srgbClr val="0A0A0A"/>
                </a:solidFill>
                <a:latin typeface="Calibri"/>
              </a:rPr>
              <a:t>Replace National ID transmission with ZK proofs — verifiable without exposing the citizen's raw identity data.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1A6B55"/>
                </a:solidFill>
                <a:latin typeface="Calibri"/>
              </a:rPr>
              <a:t>▶  Legislative Engagement: </a:t>
            </a:r>
            <a:r>
              <a:rPr sz="1800">
                <a:solidFill>
                  <a:srgbClr val="0A0A0A"/>
                </a:solidFill>
                <a:latin typeface="Calibri"/>
              </a:rPr>
              <a:t>Support amendment of the Electronic Transactions Act to formally recognise blockchain land records as legally binding.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1A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0"/>
            <a:ext cx="12006072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BlockLand: Blockchain-Based Land Registry System for Zimbabwe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74320"/>
            <a:ext cx="12188952" cy="1005840"/>
          </a:xfrm>
          <a:prstGeom prst="rect">
            <a:avLst/>
          </a:prstGeom>
          <a:solidFill>
            <a:srgbClr val="0D1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92608"/>
            <a:ext cx="11731752" cy="9692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Calibri Light"/>
              </a:rP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80160"/>
            <a:ext cx="12188952" cy="4114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6583680" cy="502920"/>
          </a:xfrm>
          <a:prstGeom prst="rect">
            <a:avLst/>
          </a:prstGeom>
          <a:solidFill>
            <a:srgbClr val="0D1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6355080"/>
            <a:ext cx="5148072" cy="502920"/>
          </a:xfrm>
          <a:prstGeom prst="rect">
            <a:avLst/>
          </a:prstGeom>
          <a:solidFill>
            <a:srgbClr val="1A6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31752" y="6355080"/>
            <a:ext cx="457200" cy="5029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6428232"/>
            <a:ext cx="6400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DEPARTMENT OF INFORMATION SECURITY AND ASSURANCE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6428232"/>
            <a:ext cx="49377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HARARE INSTITUTE OF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50040" y="6409944"/>
            <a:ext cx="402336" cy="3931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 i="0">
                <a:solidFill>
                  <a:srgbClr val="0D1741"/>
                </a:solidFill>
                <a:latin typeface="Calibri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5257800"/>
            <a:ext cx="100584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200" b="1" i="0">
                <a:solidFill>
                  <a:srgbClr val="0D1741"/>
                </a:solidFill>
                <a:latin typeface="Calibri"/>
              </a:rPr>
              <a:t>HIT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5577840"/>
            <a:ext cx="150876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700" b="0" i="0">
                <a:solidFill>
                  <a:srgbClr val="0D1741"/>
                </a:solidFill>
                <a:latin typeface="Calibri"/>
              </a:rPr>
              <a:t>Harare Institute
of Technology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1417320"/>
            <a:ext cx="9875520" cy="4800600"/>
          </a:xfrm>
          <a:prstGeom prst="rect">
            <a:avLst/>
          </a:prstGeom>
          <a:noFill/>
        </p:spPr>
        <p:txBody>
          <a:bodyPr wrap="square" lIns="45720" rIns="45720" tIns="73152" bIns="73152">
            <a:spAutoFit/>
          </a:bodyPr>
          <a:lstStyle/>
          <a:p>
            <a:pPr>
              <a:spcBef>
                <a:spcPts val="200"/>
              </a:spcBef>
            </a:pPr>
            <a:r>
              <a:rPr sz="1500">
                <a:solidFill>
                  <a:srgbClr val="0A0A0A"/>
                </a:solidFill>
                <a:latin typeface="Calibri"/>
              </a:rPr>
              <a:t>Alam, K.M. et al. (2022). A Blockchain-based Land Title Management System for Bangladesh. J. King Saud University — Computer and Information Sciences, 34(6), pp. 3096-3110.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0A0A0A"/>
                </a:solidFill>
                <a:latin typeface="Calibri"/>
              </a:rPr>
              <a:t>Ameyaw, P.D. &amp; de Vries, W.T. (2023). Blockchain technology adaptation for land administration services: The importance of socio-cultural elements. Land Use Policy.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0A0A0A"/>
                </a:solidFill>
                <a:latin typeface="Calibri"/>
              </a:rPr>
              <a:t>Dwivedi, R. et al. (2023). Blockchain-Based Transferable Digital Rights of Land. arXiv:2308.05950.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0A0A0A"/>
                </a:solidFill>
                <a:latin typeface="Calibri"/>
              </a:rPr>
              <a:t>Kimathi, K.T. (n.d.). A Land Administration Model Based on Blockchain Technology. [Unpublished thesis]. Harare Institute of Technology.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0A0A0A"/>
                </a:solidFill>
                <a:latin typeface="Calibri"/>
              </a:rPr>
              <a:t>Kombe, C. et al. (2017). Design of Land Administration and Title Registration Model Based on Blockchain Technology.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0A0A0A"/>
                </a:solidFill>
                <a:latin typeface="Calibri"/>
              </a:rPr>
              <a:t>Konashevych, O. (2020). General Concept of Real Estate Tokenization on Blockchain: The Right to Choose. European Property Law Journal, 9(1), pp. 21-66.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0A0A0A"/>
                </a:solidFill>
                <a:latin typeface="Calibri"/>
              </a:rPr>
              <a:t>M. Zein, R. &amp; Twinomurinzi, H. (2023). Blockchain Technology in Lands Registration: A Systematic Literature Review. JeDEM, 15(2), pp. 1-36.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0A0A0A"/>
                </a:solidFill>
                <a:latin typeface="Calibri"/>
              </a:rPr>
              <a:t>Mansoor, M.A. et al. (2023). Blockchain Technology for Land Registry Management in Developing Countries. 2023 ETECTE Conference, Lahore.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0A0A0A"/>
                </a:solidFill>
                <a:latin typeface="Calibri"/>
              </a:rPr>
              <a:t>Nakamoto, S. (2008). Bitcoin: A Peer-to-Peer Electronic Cash System.</a:t>
            </a:r>
          </a:p>
          <a:p>
            <a:pPr>
              <a:spcBef>
                <a:spcPts val="700"/>
              </a:spcBef>
            </a:pPr>
            <a:r>
              <a:rPr sz="1500">
                <a:solidFill>
                  <a:srgbClr val="0A0A0A"/>
                </a:solidFill>
                <a:latin typeface="Calibri"/>
              </a:rPr>
              <a:t>Paavo, J.P. et al. (2025). Practicality of Blockchain Technology for Land Registration: A Namibian Case Study. Land, 14(8), p. 1626.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